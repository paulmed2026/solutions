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4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014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business transformation story, not a CRM feature demo. The objective is to help sales leadership see a practical path from current CRM usage to intelligent customer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clean executive narrative. It should be used early to keep the audience focused on business outcomes, not technical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connect Metagenics sales reality to the CRM strategy. This is why the transformation matters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current-state framing. Avoid making it sound negative. CRM is a foundation, but it needs to mature from tracking to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you asked to add. It grounds the presentation in actual inside and outside sales discovery, which makes the strategy more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creates the structure for the rest of the deck. It turns the discovery notes into a system design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phrase is orchestration. We are not saying every system must be replaced; we are saying the seller experience should be orchestrated through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north-star slide. Emphasize that this is a phased direction, not a request to build everything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translates the vision into a day-in-the-life experience for sellers.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strong first pilot candidate because it directly addresses pain from the discovery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about standardizing sales execution without making the system feel heavy.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ties directly to revenue impact: follow-up consistency, product adoption, replenishment, and order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5-10 year vision directly. It shows maturity over time instead of one large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keeps the prior four-phase roadmap but makes it easier to present to leadership.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product roadmap is deliberately detailed for the first two years because those are the execution years. Later years are directional horizons for intelligence, prediction, personalization, and growth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transition from the sales vision into the technical foundation. The message is that strategy and technical discipline must move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comes from the handwritten technical notes: data model/architecture, data cleaning/deduplication, account and location structure, territory management, and moving from Boomi dependency toward data warehouse sourcing.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aligns to the notes: follow Microsoft ALM, ensure regions have Dev/UAT/Prod, use unmanaged in Dev and managed in UAT/Prod, and recreate all production flows that are missing from Dev.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expands user administration and monitoring/supportability from the handwritten notes: onboarding, offboarding, support process, and regular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captures the performance and user experience notes: clean and simplify forms, remove duplicated fields, and improve usability.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technical talk points back to the business roadmap and makes the technical work feel strategic instead of back-office cleanup.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point: ownership cannot sit only with IT. Sales, data, and leadership must own the operating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decision question. This turns the presentation into a leadership alignment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documents the brand palette used in the deck so the presentation has a controlled, repeatable design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mp_replac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37960" y="0"/>
            <a:ext cx="5650992" cy="6858000"/>
          </a:xfrm>
          <a:prstGeom prst="rect">
            <a:avLst/>
          </a:prstGeom>
          <a:solidFill>
            <a:srgbClr val="002A54">
              <a:alpha val="4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58368" y="777240"/>
            <a:ext cx="384048" cy="0"/>
          </a:xfrm>
          <a:prstGeom prst="line">
            <a:avLst/>
          </a:prstGeom>
          <a:noFill/>
          <a:ln w="3429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33856" y="640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PRESENTATION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58368" y="107899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 Transformation Strategy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658368" y="1664208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sales tracking to an AI-assisted customer growth platform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694944" y="3090672"/>
            <a:ext cx="5047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from inside + outside sales discovery, prior CRM transformation plan, and the 5–10 year vision for Dynamics 365.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13232" y="5440680"/>
            <a:ext cx="4069080" cy="438912"/>
          </a:xfrm>
          <a:prstGeom prst="roundRect">
            <a:avLst>
              <a:gd name="adj" fmla="val 16667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Prepare → Engage → Recommend → Close + Learn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713232" y="607161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by Paul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2026</a:t>
            </a:r>
            <a:endParaRPr lang="en-US" sz="1120" dirty="0"/>
          </a:p>
        </p:txBody>
      </p:sp>
      <p:sp>
        <p:nvSpPr>
          <p:cNvPr id="13" name="Rounded Rectangle 12"/>
          <p:cNvSpPr/>
          <p:nvPr/>
        </p:nvSpPr>
        <p:spPr>
          <a:xfrm>
            <a:off x="8293608" y="155448"/>
            <a:ext cx="3209544" cy="576072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228600"/>
            <a:ext cx="288036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storyline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13966" y="506577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The message for sales leadership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024128"/>
            <a:ext cx="10744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Metagenics already has strong sales ingredients: practitioner relationships, retail engagement, product education, repeat ordering, eCommerce signals, and sales history. The opportunity is to connect those ingredients into one guided selling experience.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965960" y="2569464"/>
            <a:ext cx="8183880" cy="0"/>
          </a:xfrm>
          <a:prstGeom prst="line">
            <a:avLst/>
          </a:prstGeom>
          <a:noFill/>
          <a:ln w="3302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33372" y="2317628"/>
            <a:ext cx="530352" cy="53035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56232" y="2436957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 are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supports sales activity, but sellers still prepare, engage, and follow up using disconnected tools and habits.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5824728" y="2331720"/>
            <a:ext cx="530352" cy="530352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24728" y="2427183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heard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needs better pre-call planning, engagement capture, product recommendations, order support, and follow-up discipline.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9619488" y="2317628"/>
            <a:ext cx="530352" cy="530352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73768" y="2427183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 go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Dynamics 365 becomes a daily sales assistant and long-term intelligent customer growth platform.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1143000" y="5532120"/>
            <a:ext cx="9921240" cy="493776"/>
          </a:xfrm>
          <a:prstGeom prst="roundRect">
            <a:avLst>
              <a:gd name="adj" fmla="val 14815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North Star: CRM should help every seller know who to engage, what to discuss, what to recommend, and what to do next.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2</a:t>
            </a:r>
            <a:endParaRPr lang="en-US" sz="740" dirty="0"/>
          </a:p>
        </p:txBody>
      </p:sp>
      <p:sp>
        <p:nvSpPr>
          <p:cNvPr id="22" name="Rounded Rectangle 21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076" y="151253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now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CRM must support the way Metagenics sells</a:t>
            </a:r>
            <a:endParaRPr lang="en-US" sz="1050" dirty="0"/>
          </a:p>
        </p:txBody>
      </p:sp>
      <p:pic>
        <p:nvPicPr>
          <p:cNvPr id="5" name="Image 0" descr="/mnt/data/old_ppt_media/slide4_1dfaaafc.png"/>
          <p:cNvPicPr>
            <a:picLocks noChangeAspect="1"/>
          </p:cNvPicPr>
          <p:nvPr/>
        </p:nvPicPr>
        <p:blipFill>
          <a:blip r:embed="rId3"/>
          <a:srcRect l="20472" r="20472"/>
          <a:stretch/>
        </p:blipFill>
        <p:spPr>
          <a:xfrm>
            <a:off x="658368" y="1143000"/>
            <a:ext cx="384048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143000"/>
            <a:ext cx="38404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4605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74920" y="1298448"/>
            <a:ext cx="365760" cy="365760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74920" y="1364285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32120" y="12710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Relationship-led selling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5532120" y="16002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and inside sales depend on trust, account context, product knowledge, and ongoing follow-up.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5074920" y="2359152"/>
            <a:ext cx="365760" cy="365760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74920" y="2424989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32120" y="2331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Education-led growth</a:t>
            </a:r>
            <a:endParaRPr lang="en-US" sz="1620" dirty="0"/>
          </a:p>
        </p:txBody>
      </p:sp>
      <p:sp>
        <p:nvSpPr>
          <p:cNvPr id="14" name="Text 11"/>
          <p:cNvSpPr/>
          <p:nvPr/>
        </p:nvSpPr>
        <p:spPr>
          <a:xfrm>
            <a:off x="5532120" y="2660904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training, account maintenance, samples, and customer education are part of the value proposition.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5074920" y="3419856"/>
            <a:ext cx="365760" cy="365760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74920" y="3485693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A54"/>
                </a:solidFill>
              </a:rPr>
              <a:t>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32120" y="3392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Repeat-order economics</a:t>
            </a:r>
            <a:endParaRPr lang="en-US" sz="1620" dirty="0"/>
          </a:p>
        </p:txBody>
      </p:sp>
      <p:sp>
        <p:nvSpPr>
          <p:cNvPr id="18" name="Text 15"/>
          <p:cNvSpPr/>
          <p:nvPr/>
        </p:nvSpPr>
        <p:spPr>
          <a:xfrm>
            <a:off x="5532120" y="3721608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comes from replenishment, retention, product adoption, and better recommendations.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5074920" y="4480560"/>
            <a:ext cx="365760" cy="365760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74920" y="4546397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32120" y="4453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Multi-channel engagement</a:t>
            </a:r>
            <a:endParaRPr lang="en-US" sz="1620" dirty="0"/>
          </a:p>
        </p:txBody>
      </p:sp>
      <p:sp>
        <p:nvSpPr>
          <p:cNvPr id="22" name="Text 19"/>
          <p:cNvSpPr/>
          <p:nvPr/>
        </p:nvSpPr>
        <p:spPr>
          <a:xfrm>
            <a:off x="5532120" y="4782312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In-person meetings, Teams/Zoom, phone, FaceTime, texts, eCommerce, and order support all matter.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5065776" y="5623560"/>
            <a:ext cx="5943600" cy="566928"/>
          </a:xfrm>
          <a:prstGeom prst="roundRect">
            <a:avLst>
              <a:gd name="adj" fmla="val 12903"/>
            </a:avLst>
          </a:prstGeom>
          <a:solidFill>
            <a:srgbClr val="002A54"/>
          </a:solidFill>
          <a:ln w="11430">
            <a:solidFill>
              <a:srgbClr val="002A54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Strategic implication: CRM cannot be just a database. It must become the sales operating layer that connects account knowledge, product insight, and next actions.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3</a:t>
            </a:r>
            <a:endParaRPr lang="en-US" sz="740" dirty="0"/>
          </a:p>
        </p:txBody>
      </p:sp>
      <p:sp>
        <p:nvSpPr>
          <p:cNvPr id="26" name="Rounded Rectangle 25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state: sales tracking, but not yet sales intelligence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What the prior plan and discovery show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04672" y="1417320"/>
            <a:ext cx="489204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1430">
            <a:solidFill>
              <a:srgbClr val="DDD4BE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Seller friction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Reps manually prepare for visits using multiple sources.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Sales data exists but is not always actionable in the selling moment.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Engagements are logged, but structure and quality can vary.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Follow-ups can depend on rep memory, local habits, or scattered notes.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Limited visibility into product adoption and at-risk accounts.</a:t>
            </a:r>
            <a:endParaRPr lang="en-US" sz="1310" dirty="0"/>
          </a:p>
        </p:txBody>
      </p:sp>
      <p:sp>
        <p:nvSpPr>
          <p:cNvPr id="6" name="Text 4"/>
          <p:cNvSpPr/>
          <p:nvPr/>
        </p:nvSpPr>
        <p:spPr>
          <a:xfrm>
            <a:off x="6492240" y="1417320"/>
            <a:ext cx="4892040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1430">
            <a:solidFill>
              <a:srgbClr val="DDD4BE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Business impact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Missed cross-sell and upsell opportunities.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Inconsistent seller execution and rep productivity.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Reactive account management instead of proactive growth.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Leadership has incomplete visibility into account health.</a:t>
            </a:r>
            <a:endParaRPr lang="en-US" sz="1310" dirty="0"/>
          </a:p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</a:rPr>
              <a:t>• CRM may feel like a reporting requirement instead of a selling tool.</a:t>
            </a:r>
            <a:endParaRPr lang="en-US" sz="1310" dirty="0"/>
          </a:p>
        </p:txBody>
      </p:sp>
      <p:sp>
        <p:nvSpPr>
          <p:cNvPr id="7" name="Text 5"/>
          <p:cNvSpPr/>
          <p:nvPr/>
        </p:nvSpPr>
        <p:spPr>
          <a:xfrm>
            <a:off x="960120" y="5797296"/>
            <a:ext cx="10241280" cy="457200"/>
          </a:xfrm>
          <a:prstGeom prst="roundRect">
            <a:avLst>
              <a:gd name="adj" fmla="val 16000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</a:rPr>
              <a:t>The transformation is not about replacing CRM. It is about making CRM more actionable, guided, and measurable.</a:t>
            </a:r>
            <a:endParaRPr lang="en-US" sz="1210" dirty="0"/>
          </a:p>
        </p:txBody>
      </p:sp>
      <p:sp>
        <p:nvSpPr>
          <p:cNvPr id="8" name="Shape 6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4</a:t>
            </a:r>
            <a:endParaRPr lang="en-US" sz="740" dirty="0"/>
          </a:p>
        </p:txBody>
      </p:sp>
      <p:sp>
        <p:nvSpPr>
          <p:cNvPr id="10" name="Rounded Rectangle 9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heard from inside &amp; outside sales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Discovery themes grounded in the whiteboard session</a:t>
            </a:r>
            <a:endParaRPr lang="en-US" sz="1050" dirty="0"/>
          </a:p>
        </p:txBody>
      </p:sp>
      <p:pic>
        <p:nvPicPr>
          <p:cNvPr id="5" name="Image 0" descr="/mnt/data/file_00000000b13071f6a0b6d81956cebdb1.jpg"/>
          <p:cNvPicPr>
            <a:picLocks noChangeAspect="1"/>
          </p:cNvPicPr>
          <p:nvPr/>
        </p:nvPicPr>
        <p:blipFill>
          <a:blip r:embed="rId3"/>
          <a:srcRect l="23378" r="23378"/>
          <a:stretch/>
        </p:blipFill>
        <p:spPr>
          <a:xfrm>
            <a:off x="603504" y="1143000"/>
            <a:ext cx="4279392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" y="1143000"/>
            <a:ext cx="4279392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49240" y="1234440"/>
            <a:ext cx="384048" cy="384048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49240" y="1303569"/>
            <a:ext cx="38404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70448" y="121615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Pre-call planning is manual</a:t>
            </a:r>
            <a:endParaRPr lang="en-US" sz="1570" dirty="0"/>
          </a:p>
        </p:txBody>
      </p:sp>
      <p:sp>
        <p:nvSpPr>
          <p:cNvPr id="10" name="Text 7"/>
          <p:cNvSpPr/>
          <p:nvPr/>
        </p:nvSpPr>
        <p:spPr>
          <a:xfrm>
            <a:off x="5870448" y="154533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Sellers check Power BI, D365, Excel, Google/Maps, decision-maker schedules, sales history, product utilization, and notes.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5349240" y="2350008"/>
            <a:ext cx="384048" cy="384048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49240" y="2419137"/>
            <a:ext cx="38404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70448" y="2331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is multi-channel</a:t>
            </a:r>
            <a:endParaRPr lang="en-US" sz="1570" dirty="0"/>
          </a:p>
        </p:txBody>
      </p:sp>
      <p:sp>
        <p:nvSpPr>
          <p:cNvPr id="14" name="Text 11"/>
          <p:cNvSpPr/>
          <p:nvPr/>
        </p:nvSpPr>
        <p:spPr>
          <a:xfrm>
            <a:off x="5870448" y="2660904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meetings, Teams/Zoom, phone calls, FaceTime, texts, trainings, account maintenance, and product education all need structure.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5349240" y="3465576"/>
            <a:ext cx="384048" cy="384048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349240" y="3534705"/>
            <a:ext cx="38404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A54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70448" y="34472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need context</a:t>
            </a:r>
            <a:endParaRPr lang="en-US" sz="1570" dirty="0"/>
          </a:p>
        </p:txBody>
      </p:sp>
      <p:sp>
        <p:nvSpPr>
          <p:cNvPr id="18" name="Text 15"/>
          <p:cNvSpPr/>
          <p:nvPr/>
        </p:nvSpPr>
        <p:spPr>
          <a:xfrm>
            <a:off x="5870448" y="3776472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recommendations should be based on account history, product adoption gaps, engagement answers, and customer needs.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5349240" y="4581144"/>
            <a:ext cx="384048" cy="384048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49240" y="4650273"/>
            <a:ext cx="38404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70448" y="4562856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is where value is won</a:t>
            </a:r>
            <a:endParaRPr lang="en-US" sz="1570" dirty="0"/>
          </a:p>
        </p:txBody>
      </p:sp>
      <p:sp>
        <p:nvSpPr>
          <p:cNvPr id="22" name="Text 19"/>
          <p:cNvSpPr/>
          <p:nvPr/>
        </p:nvSpPr>
        <p:spPr>
          <a:xfrm>
            <a:off x="5870448" y="489204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incentives, order placement, replacing orders, returns/issues, replenishment, patient recommendations, and drop shipping need reliable next steps.</a:t>
            </a:r>
            <a:endParaRPr lang="en-US" sz="1230" dirty="0"/>
          </a:p>
        </p:txBody>
      </p:sp>
      <p:sp>
        <p:nvSpPr>
          <p:cNvPr id="23" name="Shape 20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5</a:t>
            </a:r>
            <a:endParaRPr lang="en-US" sz="740" dirty="0"/>
          </a:p>
        </p:txBody>
      </p:sp>
      <p:sp>
        <p:nvSpPr>
          <p:cNvPr id="25" name="Rounded Rectangle 24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sales journey CRM should support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A simple operating model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discovery notes naturally organize into four selling moments. Each moment is an opportunity for CRM to reduce seller effort and improve consistency.</a:t>
            </a:r>
            <a:endParaRPr lang="en-US" sz="1640" dirty="0"/>
          </a:p>
        </p:txBody>
      </p:sp>
      <p:sp>
        <p:nvSpPr>
          <p:cNvPr id="6" name="Shape 4"/>
          <p:cNvSpPr/>
          <p:nvPr/>
        </p:nvSpPr>
        <p:spPr>
          <a:xfrm>
            <a:off x="2880360" y="2834640"/>
            <a:ext cx="1143000" cy="0"/>
          </a:xfrm>
          <a:prstGeom prst="line">
            <a:avLst/>
          </a:prstGeom>
          <a:noFill/>
          <a:ln w="2921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0" y="2834640"/>
            <a:ext cx="1143000" cy="0"/>
          </a:xfrm>
          <a:prstGeom prst="line">
            <a:avLst/>
          </a:prstGeom>
          <a:noFill/>
          <a:ln w="2921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58200" y="2834640"/>
            <a:ext cx="1143000" cy="0"/>
          </a:xfrm>
          <a:prstGeom prst="line">
            <a:avLst/>
          </a:prstGeom>
          <a:noFill/>
          <a:ln w="2921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2304288" cy="316382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17320" y="2139696"/>
            <a:ext cx="585216" cy="585216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2245035"/>
            <a:ext cx="58521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295351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Pre-call planning</a:t>
            </a:r>
            <a:endParaRPr lang="en-US" sz="1640" dirty="0"/>
          </a:p>
        </p:txBody>
      </p:sp>
      <p:sp>
        <p:nvSpPr>
          <p:cNvPr id="13" name="Text 11"/>
          <p:cNvSpPr/>
          <p:nvPr/>
        </p:nvSpPr>
        <p:spPr>
          <a:xfrm>
            <a:off x="868680" y="3502152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summary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history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gaps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/ commute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maker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3447288" y="1847088"/>
            <a:ext cx="2304288" cy="316382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2139696"/>
            <a:ext cx="585216" cy="585216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2245035"/>
            <a:ext cx="58521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75304" y="295351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640" dirty="0"/>
          </a:p>
        </p:txBody>
      </p:sp>
      <p:sp>
        <p:nvSpPr>
          <p:cNvPr id="18" name="Text 16"/>
          <p:cNvSpPr/>
          <p:nvPr/>
        </p:nvSpPr>
        <p:spPr>
          <a:xfrm>
            <a:off x="3657600" y="3502152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+ virtual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/ education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Specialty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 / wallet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maintenance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236208" y="1847088"/>
            <a:ext cx="2304288" cy="3163824"/>
          </a:xfrm>
          <a:prstGeom prst="roundRect">
            <a:avLst>
              <a:gd name="adj" fmla="val 3175"/>
            </a:avLst>
          </a:prstGeom>
          <a:solidFill>
            <a:srgbClr val="FFF8DF"/>
          </a:solidFill>
          <a:ln w="1143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95160" y="2139696"/>
            <a:ext cx="585216" cy="585216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2245035"/>
            <a:ext cx="58521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54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64224" y="295351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recommendation</a:t>
            </a:r>
            <a:endParaRPr lang="en-US" sz="1640" dirty="0"/>
          </a:p>
        </p:txBody>
      </p:sp>
      <p:sp>
        <p:nvSpPr>
          <p:cNvPr id="23" name="Text 21"/>
          <p:cNvSpPr/>
          <p:nvPr/>
        </p:nvSpPr>
        <p:spPr>
          <a:xfrm>
            <a:off x="6446520" y="3502152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to focus on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incentive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Wholesale / patient path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shipping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9025128" y="1847088"/>
            <a:ext cx="2304288" cy="316382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1430">
            <a:solidFill>
              <a:srgbClr val="D7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84080" y="2139696"/>
            <a:ext cx="585216" cy="585216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84080" y="2245035"/>
            <a:ext cx="58521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53144" y="2953512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+ follow-up</a:t>
            </a:r>
            <a:endParaRPr lang="en-US" sz="1640" dirty="0"/>
          </a:p>
        </p:txBody>
      </p:sp>
      <p:sp>
        <p:nvSpPr>
          <p:cNvPr id="28" name="Text 26"/>
          <p:cNvSpPr/>
          <p:nvPr/>
        </p:nvSpPr>
        <p:spPr>
          <a:xfrm>
            <a:off x="9235440" y="3502152"/>
            <a:ext cx="189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/ replace orders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/ issues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Replenishment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/ reminders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for next call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2423160" y="5742432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Design principle: CRM should guide the journey, not simply record the journey.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6</a:t>
            </a:r>
            <a:endParaRPr lang="en-US" sz="740" dirty="0"/>
          </a:p>
        </p:txBody>
      </p:sp>
      <p:sp>
        <p:nvSpPr>
          <p:cNvPr id="32" name="Rounded Rectangle 31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strategic gap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Insight exists, but sellers must assemble it manually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98755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Today, valuable signals are spread across systems, reports, notes, and seller memory. The future CRM experience should bring those signals into the sales workflow.</a:t>
            </a:r>
            <a:endParaRPr lang="en-US" sz="164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18745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67712"/>
            <a:ext cx="347472" cy="347472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330257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2267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886968" y="267004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history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utilization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 by bottles &amp; dollars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2971800" y="2057400"/>
            <a:ext cx="18745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2267712"/>
            <a:ext cx="347472" cy="347472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54680" y="2330257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267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D365 CRM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172968" y="267004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notes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Activities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257800" y="2057400"/>
            <a:ext cx="18745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0680" y="2267712"/>
            <a:ext cx="347472" cy="34747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40680" y="2330257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A54"/>
                </a:solidFill>
              </a:rPr>
              <a:t>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79592" y="2267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5458968" y="267004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ordering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adoption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behavior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543800" y="2057400"/>
            <a:ext cx="18745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26680" y="2267712"/>
            <a:ext cx="347472" cy="347472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26680" y="2330257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65592" y="2267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/ Notes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7744968" y="267004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Decision-maker schedules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planning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knowledge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829800" y="2057400"/>
            <a:ext cx="187452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012680" y="2267712"/>
            <a:ext cx="347472" cy="347472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12680" y="2330257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451592" y="22677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/ Maps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10030968" y="267004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Commute planning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context</a:t>
            </a:r>
            <a:endParaRPr lang="en-US" sz="980" dirty="0"/>
          </a:p>
          <a:p>
            <a:pPr marL="0" indent="0" algn="l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decisions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97280" y="4160520"/>
            <a:ext cx="9829800" cy="0"/>
          </a:xfrm>
          <a:prstGeom prst="line">
            <a:avLst/>
          </a:prstGeom>
          <a:noFill/>
          <a:ln w="3810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26080" y="4572000"/>
            <a:ext cx="6309360" cy="585216"/>
          </a:xfrm>
          <a:prstGeom prst="roundRect">
            <a:avLst>
              <a:gd name="adj" fmla="val 12500"/>
            </a:avLst>
          </a:prstGeom>
          <a:solidFill>
            <a:srgbClr val="002A54"/>
          </a:solidFill>
          <a:ln w="11430">
            <a:solidFill>
              <a:srgbClr val="002A54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Target state: Sales Assistant Workspace inside Dynamics 365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011680" y="544068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guided place to prepare, capture engagement, recommend products, trigger follow-up, and create leadership visibility.</a:t>
            </a:r>
            <a:endParaRPr lang="en-US" sz="1420" dirty="0"/>
          </a:p>
        </p:txBody>
      </p:sp>
      <p:sp>
        <p:nvSpPr>
          <p:cNvPr id="34" name="Shape 32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7</a:t>
            </a:r>
            <a:endParaRPr lang="en-US" sz="740" dirty="0"/>
          </a:p>
        </p:txBody>
      </p:sp>
      <p:sp>
        <p:nvSpPr>
          <p:cNvPr id="36" name="Rounded Rectangle 35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tmp_slide8_repla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411480"/>
            <a:ext cx="6903720" cy="5623560"/>
          </a:xfrm>
          <a:prstGeom prst="roundRect">
            <a:avLst>
              <a:gd name="adj" fmla="val 1301"/>
            </a:avLst>
          </a:prstGeom>
          <a:solidFill>
            <a:srgbClr val="002A54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94944" y="795528"/>
            <a:ext cx="384048" cy="0"/>
          </a:xfrm>
          <a:prstGeom prst="line">
            <a:avLst/>
          </a:prstGeom>
          <a:noFill/>
          <a:ln w="34290">
            <a:solidFill>
              <a:srgbClr val="FCE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70432" y="658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STATE &amp; VISION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4944" y="1097280"/>
            <a:ext cx="6583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Dynamics 365 becomes the intelligent growth platform for Metagenics sales.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" y="2395728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E8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should guide sellers before the call, during engagement, and after the meeting — while creating a more reliable data foundation for leadership.</a:t>
            </a:r>
            <a:endParaRPr lang="en-US" sz="1620" dirty="0"/>
          </a:p>
        </p:txBody>
      </p:sp>
      <p:sp>
        <p:nvSpPr>
          <p:cNvPr id="8" name="Text 5"/>
          <p:cNvSpPr/>
          <p:nvPr/>
        </p:nvSpPr>
        <p:spPr>
          <a:xfrm>
            <a:off x="786384" y="37033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360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" y="3977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Sales, eCommerce, engagement, product adoption, orders, and account health.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4078224" y="37033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selling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078224" y="3977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summaries, product gaps, next best action, risk signals, and call prep.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86384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execution system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4846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engagement, guided questions, follow-ups, and workflow automation.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078224" y="45720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intelligence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078224" y="48463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Territory, productivity, product adoption, account health, and revenue visibility.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407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DCEEEA"/>
                </a:solidFill>
              </a:rPr>
              <a:t>Metagenics CRM Transformation Strategy  |  8</a:t>
            </a:r>
            <a:endParaRPr lang="en-US" sz="740" dirty="0"/>
          </a:p>
        </p:txBody>
      </p:sp>
      <p:sp>
        <p:nvSpPr>
          <p:cNvPr id="19" name="Rounded Rectangle 18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seller experience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What should change for a rep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00584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future state is simple: sellers should spend less time hunting for information and more time having better customer conversations.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1248" y="178308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9848" y="1984248"/>
            <a:ext cx="438912" cy="438912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9848" y="2063252"/>
            <a:ext cx="43891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9659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visit</a:t>
            </a:r>
            <a:endParaRPr lang="en-US" sz="1630" dirty="0"/>
          </a:p>
        </p:txBody>
      </p:sp>
      <p:sp>
        <p:nvSpPr>
          <p:cNvPr id="10" name="Text 8"/>
          <p:cNvSpPr/>
          <p:nvPr/>
        </p:nvSpPr>
        <p:spPr>
          <a:xfrm>
            <a:off x="4005072" y="196596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account workspace → see summary, product gaps, past orders, health, next best action, and recommended focus.</a:t>
            </a:r>
            <a:endParaRPr lang="en-US" sz="1310" dirty="0"/>
          </a:p>
        </p:txBody>
      </p:sp>
      <p:sp>
        <p:nvSpPr>
          <p:cNvPr id="11" name="Shape 9"/>
          <p:cNvSpPr/>
          <p:nvPr/>
        </p:nvSpPr>
        <p:spPr>
          <a:xfrm>
            <a:off x="841248" y="310896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9E6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9848" y="3310128"/>
            <a:ext cx="438912" cy="43891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9848" y="3389132"/>
            <a:ext cx="43891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54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3291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engagement</a:t>
            </a:r>
            <a:endParaRPr lang="en-US" sz="1630" dirty="0"/>
          </a:p>
        </p:txBody>
      </p:sp>
      <p:sp>
        <p:nvSpPr>
          <p:cNvPr id="15" name="Text 13"/>
          <p:cNvSpPr/>
          <p:nvPr/>
        </p:nvSpPr>
        <p:spPr>
          <a:xfrm>
            <a:off x="4005072" y="329184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structured engagement types, guided prompts, product education needs, specialty, patient/wallet context, and notes.</a:t>
            </a:r>
            <a:endParaRPr lang="en-US" sz="1310" dirty="0"/>
          </a:p>
        </p:txBody>
      </p:sp>
      <p:sp>
        <p:nvSpPr>
          <p:cNvPr id="16" name="Shape 14"/>
          <p:cNvSpPr/>
          <p:nvPr/>
        </p:nvSpPr>
        <p:spPr>
          <a:xfrm>
            <a:off x="841248" y="4434840"/>
            <a:ext cx="10561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69848" y="4636008"/>
            <a:ext cx="438912" cy="438912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69848" y="4715012"/>
            <a:ext cx="438912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4617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meeting</a:t>
            </a:r>
            <a:endParaRPr lang="en-US" sz="1630" dirty="0"/>
          </a:p>
        </p:txBody>
      </p:sp>
      <p:sp>
        <p:nvSpPr>
          <p:cNvPr id="20" name="Text 18"/>
          <p:cNvSpPr/>
          <p:nvPr/>
        </p:nvSpPr>
        <p:spPr>
          <a:xfrm>
            <a:off x="4005072" y="461772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creates follow-ups, tasks, issue workflows, order prompts, product recommendations, and replenishment reminders.</a:t>
            </a:r>
            <a:endParaRPr lang="en-US" sz="1310" dirty="0"/>
          </a:p>
        </p:txBody>
      </p:sp>
      <p:sp>
        <p:nvSpPr>
          <p:cNvPr id="21" name="Text 19"/>
          <p:cNvSpPr/>
          <p:nvPr/>
        </p:nvSpPr>
        <p:spPr>
          <a:xfrm>
            <a:off x="1325880" y="5715000"/>
            <a:ext cx="9555480" cy="457200"/>
          </a:xfrm>
          <a:prstGeom prst="roundRect">
            <a:avLst>
              <a:gd name="adj" fmla="val 16000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Success measure: every engagement ends with a clear next step and better data for the next conversation.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9</a:t>
            </a:r>
            <a:endParaRPr lang="en-US" sz="740" dirty="0"/>
          </a:p>
        </p:txBody>
      </p:sp>
      <p:sp>
        <p:nvSpPr>
          <p:cNvPr id="24" name="Rounded Rectangle 23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Pre-call planning transformation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Make every seller better prepared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32552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6002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account summary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896112" y="1947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 account history, recent notes, orders, product usage, and relationship context.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552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90872" y="16002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adoption gaps</a:t>
            </a:r>
            <a:endParaRPr lang="en-US" sz="1520" dirty="0"/>
          </a:p>
        </p:txBody>
      </p:sp>
      <p:sp>
        <p:nvSpPr>
          <p:cNvPr id="10" name="Text 8"/>
          <p:cNvSpPr/>
          <p:nvPr/>
        </p:nvSpPr>
        <p:spPr>
          <a:xfrm>
            <a:off x="4690872" y="1947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 top products, missing categories, low utilization, and declining trends.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275320" y="1417320"/>
            <a:ext cx="32552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85632" y="1600200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A64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+ opportunity signals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8485632" y="1947672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inactive, at-risk, or growth-ready accounts before the visit.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85800" y="2953512"/>
            <a:ext cx="32552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6112" y="31363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Talking points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96112" y="348386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discussion themes, trade incentive focus, product education, and decision-maker questions.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4480560" y="2953512"/>
            <a:ext cx="325526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1430">
            <a:solidFill>
              <a:srgbClr val="DDD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90872" y="313639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planning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4690872" y="348386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field planning with nearby accounts, commute context, and territory efficiency.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508760" y="5285232"/>
            <a:ext cx="9144000" cy="658368"/>
          </a:xfrm>
          <a:prstGeom prst="roundRect">
            <a:avLst>
              <a:gd name="adj" fmla="val 11111"/>
            </a:avLst>
          </a:prstGeom>
          <a:solidFill>
            <a:srgbClr val="002A54"/>
          </a:solidFill>
          <a:ln w="11430">
            <a:solidFill>
              <a:srgbClr val="002A54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</a:rPr>
              <a:t>Business outcome: less manual research, better call quality, more consistent account coverage, and higher-value customer conversations.</a:t>
            </a:r>
            <a:endParaRPr lang="en-US" sz="1430" dirty="0"/>
          </a:p>
        </p:txBody>
      </p:sp>
      <p:sp>
        <p:nvSpPr>
          <p:cNvPr id="21" name="Shape 1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10</a:t>
            </a:r>
            <a:endParaRPr lang="en-US" sz="740" dirty="0"/>
          </a:p>
        </p:txBody>
      </p:sp>
      <p:sp>
        <p:nvSpPr>
          <p:cNvPr id="23" name="Rounded Rectangle 22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2A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tmp_replace_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0"/>
            <a:ext cx="60441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740664"/>
            <a:ext cx="384048" cy="0"/>
          </a:xfrm>
          <a:prstGeom prst="line">
            <a:avLst/>
          </a:prstGeom>
          <a:noFill/>
          <a:ln w="34290">
            <a:solidFill>
              <a:srgbClr val="FCE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133856" y="603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TRANSFORMATION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58368" y="1060704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every interaction easier to capture and easier to act on.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13232" y="2331720"/>
            <a:ext cx="347472" cy="347472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2394265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70432" y="2313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engagement types</a:t>
            </a:r>
            <a:endParaRPr lang="en-US" sz="1370" dirty="0"/>
          </a:p>
        </p:txBody>
      </p:sp>
      <p:sp>
        <p:nvSpPr>
          <p:cNvPr id="9" name="Text 6"/>
          <p:cNvSpPr/>
          <p:nvPr/>
        </p:nvSpPr>
        <p:spPr>
          <a:xfrm>
            <a:off x="1170432" y="258775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meeting, virtual meeting, product training, account maintenance, scheduled engagement, call, text.</a:t>
            </a:r>
            <a:endParaRPr lang="en-US" sz="1110" dirty="0"/>
          </a:p>
        </p:txBody>
      </p:sp>
      <p:sp>
        <p:nvSpPr>
          <p:cNvPr id="10" name="Shape 7"/>
          <p:cNvSpPr/>
          <p:nvPr/>
        </p:nvSpPr>
        <p:spPr>
          <a:xfrm>
            <a:off x="713232" y="3154680"/>
            <a:ext cx="347472" cy="34747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3217225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A54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70432" y="31363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selling prompts</a:t>
            </a:r>
            <a:endParaRPr lang="en-US" sz="1370" dirty="0"/>
          </a:p>
        </p:txBody>
      </p:sp>
      <p:sp>
        <p:nvSpPr>
          <p:cNvPr id="13" name="Text 10"/>
          <p:cNvSpPr/>
          <p:nvPr/>
        </p:nvSpPr>
        <p:spPr>
          <a:xfrm>
            <a:off x="1170432" y="341071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Specialty, number of patients / wallet, delivery model, education interest, virtual consult needs.</a:t>
            </a:r>
            <a:endParaRPr lang="en-US" sz="1110" dirty="0"/>
          </a:p>
        </p:txBody>
      </p:sp>
      <p:sp>
        <p:nvSpPr>
          <p:cNvPr id="14" name="Shape 11"/>
          <p:cNvSpPr/>
          <p:nvPr/>
        </p:nvSpPr>
        <p:spPr>
          <a:xfrm>
            <a:off x="713232" y="3977640"/>
            <a:ext cx="347472" cy="347472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" y="4040185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70432" y="3959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capture</a:t>
            </a:r>
            <a:endParaRPr lang="en-US" sz="1370" dirty="0"/>
          </a:p>
        </p:txBody>
      </p:sp>
      <p:sp>
        <p:nvSpPr>
          <p:cNvPr id="17" name="Text 14"/>
          <p:cNvSpPr/>
          <p:nvPr/>
        </p:nvSpPr>
        <p:spPr>
          <a:xfrm>
            <a:off x="1170432" y="423367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discussed, customer response, samples dropped, training needs, wholesale / patient path.</a:t>
            </a:r>
            <a:endParaRPr lang="en-US" sz="1110" dirty="0"/>
          </a:p>
        </p:txBody>
      </p:sp>
      <p:sp>
        <p:nvSpPr>
          <p:cNvPr id="18" name="Shape 15"/>
          <p:cNvSpPr/>
          <p:nvPr/>
        </p:nvSpPr>
        <p:spPr>
          <a:xfrm>
            <a:off x="713232" y="4800600"/>
            <a:ext cx="347472" cy="347472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13232" y="4863145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170432" y="47823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next steps</a:t>
            </a:r>
            <a:endParaRPr lang="en-US" sz="1370" dirty="0"/>
          </a:p>
        </p:txBody>
      </p:sp>
      <p:sp>
        <p:nvSpPr>
          <p:cNvPr id="21" name="Text 18"/>
          <p:cNvSpPr/>
          <p:nvPr/>
        </p:nvSpPr>
        <p:spPr>
          <a:xfrm>
            <a:off x="1170432" y="505663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task, order assistance, issue workflow, replenishment reminder, next engagement date.</a:t>
            </a:r>
            <a:endParaRPr lang="en-US" sz="1110" dirty="0"/>
          </a:p>
        </p:txBody>
      </p:sp>
      <p:sp>
        <p:nvSpPr>
          <p:cNvPr id="22" name="Shape 1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407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DCEEEA"/>
                </a:solidFill>
              </a:rPr>
              <a:t>Metagenics CRM Transformation Strategy  |  11</a:t>
            </a:r>
            <a:endParaRPr lang="en-US" sz="740" dirty="0"/>
          </a:p>
        </p:txBody>
      </p:sp>
      <p:sp>
        <p:nvSpPr>
          <p:cNvPr id="25" name="Rounded Rectangle 24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and follow-up transformation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Turn every engagement into action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close should not depend on memory. CRM should convert each engagement into recommendations, order support, issue resolution, and next steps.</a:t>
            </a:r>
            <a:endParaRPr lang="en-US" sz="1630" dirty="0"/>
          </a:p>
        </p:txBody>
      </p:sp>
      <p:sp>
        <p:nvSpPr>
          <p:cNvPr id="6" name="Shape 4"/>
          <p:cNvSpPr/>
          <p:nvPr/>
        </p:nvSpPr>
        <p:spPr>
          <a:xfrm>
            <a:off x="685800" y="1920240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DCE4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27048" y="2212848"/>
            <a:ext cx="530352" cy="530352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27048" y="2308311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0392" y="29626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recommendation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86968" y="345643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products using account history, product adoption gaps, engagement answers, and customer needs.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FF8DF"/>
          </a:solidFill>
          <a:ln w="11430">
            <a:solidFill>
              <a:srgbClr val="DCE4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61688" y="2212848"/>
            <a:ext cx="530352" cy="53035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61688" y="2308311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54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85032" y="29626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support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21608" y="345643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placing orders, replacing orders, returns/issues, patient recommendation, wholesale path, and drop shipping.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355080" y="1920240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DCE4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96328" y="2212848"/>
            <a:ext cx="530352" cy="530352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96328" y="2308311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9672" y="29626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automation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56248" y="345643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tasks, reminders, replenishment prompts, and scheduled engagement follow-ups automatically.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189720" y="1920240"/>
            <a:ext cx="2468880" cy="2907792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DCE4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30968" y="2212848"/>
            <a:ext cx="530352" cy="53035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30968" y="2308311"/>
            <a:ext cx="530352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54312" y="296265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detection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90888" y="3456432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sellers and leaders when orders decline, follow-ups are missed, or account issues remain open.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234440" y="5577840"/>
            <a:ext cx="9784080" cy="475488"/>
          </a:xfrm>
          <a:prstGeom prst="roundRect">
            <a:avLst>
              <a:gd name="adj" fmla="val 15385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Future-state goal: every seller leaves the meeting with the right recommendation and a tracked next step.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12</a:t>
            </a:r>
            <a:endParaRPr lang="en-US" sz="740" dirty="0"/>
          </a:p>
        </p:txBody>
      </p:sp>
      <p:sp>
        <p:nvSpPr>
          <p:cNvPr id="29" name="Rounded Rectangle 28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conceptual_business_infographic_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" y="411480"/>
            <a:ext cx="5806440" cy="5623560"/>
          </a:xfrm>
          <a:prstGeom prst="roundRect">
            <a:avLst>
              <a:gd name="adj" fmla="val 1301"/>
            </a:avLst>
          </a:prstGeom>
          <a:solidFill>
            <a:srgbClr val="002A54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8368" y="740664"/>
            <a:ext cx="384048" cy="0"/>
          </a:xfrm>
          <a:prstGeom prst="line">
            <a:avLst/>
          </a:prstGeom>
          <a:noFill/>
          <a:ln w="34290">
            <a:solidFill>
              <a:srgbClr val="FCE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33856" y="603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 YEAR CRM VISION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8368" y="1051560"/>
            <a:ext cx="5349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visibility to predictive customer growth.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77240" y="3154680"/>
            <a:ext cx="2304288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23544" y="32735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0–6 months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23544" y="34930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23544" y="37216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Account/location model, data quality, engagement standards, dashboards, governance.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3566160" y="4114800"/>
            <a:ext cx="2304288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712464" y="4233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6–18 months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712464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selling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712464" y="46817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Pre-call workspace, engagement capture, follow-up automation, recommendation rules.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6355080" y="3154680"/>
            <a:ext cx="2304288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01384" y="32735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2–5 years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501384" y="349300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selling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501384" y="37216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summaries, account health score, next best action, territory optimization, predictive alerts.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9144000" y="4114800"/>
            <a:ext cx="2304288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290304" y="42336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5–10 years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290304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platform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290304" y="468172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sales, eCommerce, marketing, finance, data warehouse, and AI-driven growth orchestration.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407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DCEEEA"/>
                </a:solidFill>
              </a:rPr>
              <a:t>Metagenics CRM Transformation Strategy  |  13</a:t>
            </a:r>
            <a:endParaRPr lang="en-US" sz="740" dirty="0"/>
          </a:p>
        </p:txBody>
      </p:sp>
      <p:sp>
        <p:nvSpPr>
          <p:cNvPr id="25" name="Rounded Rectangle 24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roadmap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Build momentum in phases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49808" y="1508760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1D5959"/>
          </a:solidFill>
          <a:ln w="1270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6276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896112" y="18562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63240" y="170992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64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1–5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4251960" y="1618488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account/location model, engagement standards, source systems, data quality rules, and governance cadence.</a:t>
            </a:r>
            <a:endParaRPr lang="en-US" sz="1270" dirty="0"/>
          </a:p>
        </p:txBody>
      </p:sp>
      <p:sp>
        <p:nvSpPr>
          <p:cNvPr id="10" name="Shape 8"/>
          <p:cNvSpPr/>
          <p:nvPr/>
        </p:nvSpPr>
        <p:spPr>
          <a:xfrm>
            <a:off x="749808" y="2587752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002A54"/>
          </a:solidFill>
          <a:ln w="1270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896112" y="29352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63240" y="278892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64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6–9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251960" y="269748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account health views, product adoption dashboards, rep activity visibility, and leadership reporting.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749808" y="3666744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77447D"/>
          </a:solidFill>
          <a:ln w="1270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37856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896112" y="40142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63240" y="386791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64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10–14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251960" y="3776472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follow-ups, reminders, issue workflows, replenishment prompts, and order support actions.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749808" y="4745736"/>
            <a:ext cx="2103120" cy="676656"/>
          </a:xfrm>
          <a:prstGeom prst="roundRect">
            <a:avLst>
              <a:gd name="adj" fmla="val 8108"/>
            </a:avLst>
          </a:prstGeom>
          <a:solidFill>
            <a:srgbClr val="A64F11"/>
          </a:solidFill>
          <a:ln w="1270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96112" y="48646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896112" y="5093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pilot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63240" y="49469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A64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Weeks 15–20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251960" y="4855464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AI account summaries, product gaps, risk signals, pre-call insights, and next-best-action recommendations.</a:t>
            </a:r>
            <a:endParaRPr lang="en-US" sz="1270" dirty="0"/>
          </a:p>
        </p:txBody>
      </p:sp>
      <p:sp>
        <p:nvSpPr>
          <p:cNvPr id="25" name="Text 23"/>
          <p:cNvSpPr/>
          <p:nvPr/>
        </p:nvSpPr>
        <p:spPr>
          <a:xfrm>
            <a:off x="1325880" y="5897880"/>
            <a:ext cx="9555480" cy="457200"/>
          </a:xfrm>
          <a:prstGeom prst="roundRect">
            <a:avLst>
              <a:gd name="adj" fmla="val 16000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Recommended approach: pilot one high-value seller workflow first, then scale with governance and data discipline.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14</a:t>
            </a:r>
            <a:endParaRPr lang="en-US" sz="740" dirty="0"/>
          </a:p>
        </p:txBody>
      </p:sp>
      <p:sp>
        <p:nvSpPr>
          <p:cNvPr id="28" name="Rounded Rectangle 27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 Product Roadmap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Year 1 + Year 2 detailed, later years directional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41832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roadmap should behave like a product plan: build trusted data and repeatable seller workflows first, then layer automation and AI where it improves sales execution.</a:t>
            </a:r>
            <a:endParaRPr lang="en-US" sz="1480" dirty="0"/>
          </a:p>
        </p:txBody>
      </p:sp>
      <p:sp>
        <p:nvSpPr>
          <p:cNvPr id="6" name="Shape 4"/>
          <p:cNvSpPr/>
          <p:nvPr/>
        </p:nvSpPr>
        <p:spPr>
          <a:xfrm>
            <a:off x="530352" y="1444752"/>
            <a:ext cx="11173968" cy="4315968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2700">
            <a:solidFill>
              <a:srgbClr val="E0E7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664208"/>
            <a:ext cx="1847088" cy="530352"/>
          </a:xfrm>
          <a:prstGeom prst="rect">
            <a:avLst/>
          </a:prstGeom>
          <a:solidFill>
            <a:srgbClr val="002A54"/>
          </a:solidFill>
          <a:ln w="1270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865376"/>
            <a:ext cx="15179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TRACK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2578608" y="1664208"/>
            <a:ext cx="2560320" cy="256032"/>
          </a:xfrm>
          <a:prstGeom prst="rect">
            <a:avLst/>
          </a:prstGeom>
          <a:solidFill>
            <a:srgbClr val="EAF2EE"/>
          </a:solidFill>
          <a:ln w="12700">
            <a:solidFill>
              <a:srgbClr val="D8E2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78608" y="173278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— Foundation &amp; Adoption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5138928" y="1664208"/>
            <a:ext cx="2560320" cy="256032"/>
          </a:xfrm>
          <a:prstGeom prst="rect">
            <a:avLst/>
          </a:prstGeom>
          <a:solidFill>
            <a:srgbClr val="F4EBD0"/>
          </a:solidFill>
          <a:ln w="12700">
            <a:solidFill>
              <a:srgbClr val="E7D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8928" y="1732788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6C54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2 — Guided Selling &amp; Automation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699248" y="1664208"/>
            <a:ext cx="1078992" cy="256032"/>
          </a:xfrm>
          <a:prstGeom prst="rect">
            <a:avLst/>
          </a:prstGeom>
          <a:solidFill>
            <a:srgbClr val="E3EFF4"/>
          </a:solidFill>
          <a:ln w="12700">
            <a:solidFill>
              <a:srgbClr val="D1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9248" y="1732788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355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 3–5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8778240" y="1664208"/>
            <a:ext cx="1078992" cy="256032"/>
          </a:xfrm>
          <a:prstGeom prst="rect">
            <a:avLst/>
          </a:prstGeom>
          <a:solidFill>
            <a:srgbClr val="EFE4CC"/>
          </a:solidFill>
          <a:ln w="12700">
            <a:solidFill>
              <a:srgbClr val="DDCF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778240" y="1732788"/>
            <a:ext cx="1078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774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 5–10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257860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7860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321868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1868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620" dirty="0"/>
          </a:p>
        </p:txBody>
      </p:sp>
      <p:sp>
        <p:nvSpPr>
          <p:cNvPr id="21" name="Shape 19"/>
          <p:cNvSpPr/>
          <p:nvPr/>
        </p:nvSpPr>
        <p:spPr>
          <a:xfrm>
            <a:off x="385876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5876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449884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9884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620" dirty="0"/>
          </a:p>
        </p:txBody>
      </p:sp>
      <p:sp>
        <p:nvSpPr>
          <p:cNvPr id="25" name="Shape 23"/>
          <p:cNvSpPr/>
          <p:nvPr/>
        </p:nvSpPr>
        <p:spPr>
          <a:xfrm>
            <a:off x="513892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620" dirty="0"/>
          </a:p>
        </p:txBody>
      </p:sp>
      <p:sp>
        <p:nvSpPr>
          <p:cNvPr id="27" name="Shape 25"/>
          <p:cNvSpPr/>
          <p:nvPr/>
        </p:nvSpPr>
        <p:spPr>
          <a:xfrm>
            <a:off x="577900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7900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620" dirty="0"/>
          </a:p>
        </p:txBody>
      </p:sp>
      <p:sp>
        <p:nvSpPr>
          <p:cNvPr id="29" name="Shape 27"/>
          <p:cNvSpPr/>
          <p:nvPr/>
        </p:nvSpPr>
        <p:spPr>
          <a:xfrm>
            <a:off x="641908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1908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620" dirty="0"/>
          </a:p>
        </p:txBody>
      </p:sp>
      <p:sp>
        <p:nvSpPr>
          <p:cNvPr id="31" name="Shape 29"/>
          <p:cNvSpPr/>
          <p:nvPr/>
        </p:nvSpPr>
        <p:spPr>
          <a:xfrm>
            <a:off x="7059168" y="1920240"/>
            <a:ext cx="640080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59168" y="201625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7699248" y="1920240"/>
            <a:ext cx="1078992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99248" y="2016252"/>
            <a:ext cx="10789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Yrs 3–5</a:t>
            </a:r>
            <a:endParaRPr lang="en-US" sz="620" dirty="0"/>
          </a:p>
        </p:txBody>
      </p:sp>
      <p:sp>
        <p:nvSpPr>
          <p:cNvPr id="35" name="Shape 33"/>
          <p:cNvSpPr/>
          <p:nvPr/>
        </p:nvSpPr>
        <p:spPr>
          <a:xfrm>
            <a:off x="8778240" y="1920240"/>
            <a:ext cx="1078992" cy="274320"/>
          </a:xfrm>
          <a:prstGeom prst="rect">
            <a:avLst/>
          </a:prstGeom>
          <a:solidFill>
            <a:srgbClr val="F8FAF7"/>
          </a:solidFill>
          <a:ln w="5080">
            <a:solidFill>
              <a:srgbClr val="E2E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778240" y="2016252"/>
            <a:ext cx="10789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Yrs 5–10</a:t>
            </a: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713232" y="2194560"/>
            <a:ext cx="1847088" cy="585216"/>
          </a:xfrm>
          <a:prstGeom prst="rect">
            <a:avLst/>
          </a:prstGeom>
          <a:solidFill>
            <a:srgbClr val="002A54"/>
          </a:solidFill>
          <a:ln w="6350">
            <a:solidFill>
              <a:srgbClr val="F6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6384" y="2322576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Architecture</a:t>
            </a:r>
            <a:endParaRPr lang="en-US" sz="725" dirty="0"/>
          </a:p>
        </p:txBody>
      </p:sp>
      <p:sp>
        <p:nvSpPr>
          <p:cNvPr id="39" name="Text 37"/>
          <p:cNvSpPr/>
          <p:nvPr/>
        </p:nvSpPr>
        <p:spPr>
          <a:xfrm>
            <a:off x="786384" y="2523744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E8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model</a:t>
            </a:r>
            <a:endParaRPr lang="en-US" sz="570" dirty="0"/>
          </a:p>
        </p:txBody>
      </p:sp>
      <p:sp>
        <p:nvSpPr>
          <p:cNvPr id="40" name="Shape 38"/>
          <p:cNvSpPr/>
          <p:nvPr/>
        </p:nvSpPr>
        <p:spPr>
          <a:xfrm>
            <a:off x="2578608" y="2194560"/>
            <a:ext cx="7278624" cy="585216"/>
          </a:xfrm>
          <a:prstGeom prst="rect">
            <a:avLst/>
          </a:prstGeom>
          <a:solidFill>
            <a:srgbClr val="F2F6F3"/>
          </a:solidFill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13232" y="2779776"/>
            <a:ext cx="1847088" cy="585216"/>
          </a:xfrm>
          <a:prstGeom prst="rect">
            <a:avLst/>
          </a:prstGeom>
          <a:solidFill>
            <a:srgbClr val="6F7E78"/>
          </a:solidFill>
          <a:ln w="6350">
            <a:solidFill>
              <a:srgbClr val="F6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6384" y="2907792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Experience</a:t>
            </a:r>
            <a:endParaRPr lang="en-US" sz="725" dirty="0"/>
          </a:p>
        </p:txBody>
      </p:sp>
      <p:sp>
        <p:nvSpPr>
          <p:cNvPr id="43" name="Text 41"/>
          <p:cNvSpPr/>
          <p:nvPr/>
        </p:nvSpPr>
        <p:spPr>
          <a:xfrm>
            <a:off x="786384" y="3108960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E8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→ engage → close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2578608" y="2779776"/>
            <a:ext cx="7278624" cy="585216"/>
          </a:xfrm>
          <a:prstGeom prst="rect">
            <a:avLst/>
          </a:prstGeom>
          <a:solidFill>
            <a:srgbClr val="F8FAF7"/>
          </a:solidFill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3232" y="3364992"/>
            <a:ext cx="1847088" cy="585216"/>
          </a:xfrm>
          <a:prstGeom prst="rect">
            <a:avLst/>
          </a:prstGeom>
          <a:solidFill>
            <a:srgbClr val="6F7E78"/>
          </a:solidFill>
          <a:ln w="6350">
            <a:solidFill>
              <a:srgbClr val="F6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6384" y="349300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Intelligence</a:t>
            </a:r>
            <a:endParaRPr lang="en-US" sz="725" dirty="0"/>
          </a:p>
        </p:txBody>
      </p:sp>
      <p:sp>
        <p:nvSpPr>
          <p:cNvPr id="47" name="Text 45"/>
          <p:cNvSpPr/>
          <p:nvPr/>
        </p:nvSpPr>
        <p:spPr>
          <a:xfrm>
            <a:off x="786384" y="3694176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E8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engine</a:t>
            </a:r>
            <a:endParaRPr lang="en-US" sz="570" dirty="0"/>
          </a:p>
        </p:txBody>
      </p:sp>
      <p:sp>
        <p:nvSpPr>
          <p:cNvPr id="48" name="Shape 46"/>
          <p:cNvSpPr/>
          <p:nvPr/>
        </p:nvSpPr>
        <p:spPr>
          <a:xfrm>
            <a:off x="2578608" y="3364992"/>
            <a:ext cx="7278624" cy="585216"/>
          </a:xfrm>
          <a:prstGeom prst="rect">
            <a:avLst/>
          </a:prstGeom>
          <a:solidFill>
            <a:srgbClr val="F2F6F3"/>
          </a:solidFill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13232" y="3950208"/>
            <a:ext cx="1847088" cy="585216"/>
          </a:xfrm>
          <a:prstGeom prst="rect">
            <a:avLst/>
          </a:prstGeom>
          <a:solidFill>
            <a:srgbClr val="6F7E78"/>
          </a:solidFill>
          <a:ln w="6350">
            <a:solidFill>
              <a:srgbClr val="F6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86384" y="4078224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&amp; Workflow</a:t>
            </a:r>
            <a:endParaRPr lang="en-US" sz="725" dirty="0"/>
          </a:p>
        </p:txBody>
      </p:sp>
      <p:sp>
        <p:nvSpPr>
          <p:cNvPr id="51" name="Text 49"/>
          <p:cNvSpPr/>
          <p:nvPr/>
        </p:nvSpPr>
        <p:spPr>
          <a:xfrm>
            <a:off x="786384" y="4279392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E8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+ follow-up</a:t>
            </a:r>
            <a:endParaRPr lang="en-US" sz="570" dirty="0"/>
          </a:p>
        </p:txBody>
      </p:sp>
      <p:sp>
        <p:nvSpPr>
          <p:cNvPr id="52" name="Shape 50"/>
          <p:cNvSpPr/>
          <p:nvPr/>
        </p:nvSpPr>
        <p:spPr>
          <a:xfrm>
            <a:off x="2578608" y="3950208"/>
            <a:ext cx="7278624" cy="585216"/>
          </a:xfrm>
          <a:prstGeom prst="rect">
            <a:avLst/>
          </a:prstGeom>
          <a:solidFill>
            <a:srgbClr val="F8FAF7"/>
          </a:solidFill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13232" y="4535424"/>
            <a:ext cx="1847088" cy="585216"/>
          </a:xfrm>
          <a:prstGeom prst="rect">
            <a:avLst/>
          </a:prstGeom>
          <a:solidFill>
            <a:srgbClr val="6F7E78"/>
          </a:solidFill>
          <a:ln w="6350">
            <a:solidFill>
              <a:srgbClr val="F6F8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86384" y="4663440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&amp; Governance</a:t>
            </a:r>
            <a:endParaRPr lang="en-US" sz="725" dirty="0"/>
          </a:p>
        </p:txBody>
      </p:sp>
      <p:sp>
        <p:nvSpPr>
          <p:cNvPr id="55" name="Text 53"/>
          <p:cNvSpPr/>
          <p:nvPr/>
        </p:nvSpPr>
        <p:spPr>
          <a:xfrm>
            <a:off x="786384" y="4864608"/>
            <a:ext cx="1700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E8F0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 + control</a:t>
            </a:r>
            <a:endParaRPr lang="en-US" sz="570" dirty="0"/>
          </a:p>
        </p:txBody>
      </p:sp>
      <p:sp>
        <p:nvSpPr>
          <p:cNvPr id="56" name="Shape 54"/>
          <p:cNvSpPr/>
          <p:nvPr/>
        </p:nvSpPr>
        <p:spPr>
          <a:xfrm>
            <a:off x="2578608" y="4535424"/>
            <a:ext cx="7278624" cy="585216"/>
          </a:xfrm>
          <a:prstGeom prst="rect">
            <a:avLst/>
          </a:prstGeom>
          <a:solidFill>
            <a:srgbClr val="F2F6F3"/>
          </a:solidFill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57860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321868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385876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49884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138928" y="2194560"/>
            <a:ext cx="0" cy="2926080"/>
          </a:xfrm>
          <a:prstGeom prst="line">
            <a:avLst/>
          </a:prstGeom>
          <a:noFill/>
          <a:ln w="12700">
            <a:solidFill>
              <a:srgbClr val="C5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77900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41908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059168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699248" y="2194560"/>
            <a:ext cx="0" cy="2926080"/>
          </a:xfrm>
          <a:prstGeom prst="line">
            <a:avLst/>
          </a:prstGeom>
          <a:noFill/>
          <a:ln w="12700">
            <a:solidFill>
              <a:srgbClr val="C5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778240" y="2194560"/>
            <a:ext cx="0" cy="2926080"/>
          </a:xfrm>
          <a:prstGeom prst="line">
            <a:avLst/>
          </a:prstGeom>
          <a:noFill/>
          <a:ln w="12700">
            <a:solidFill>
              <a:srgbClr val="C5D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9857232" y="2194560"/>
            <a:ext cx="0" cy="2926080"/>
          </a:xfrm>
          <a:prstGeom prst="line">
            <a:avLst/>
          </a:prstGeom>
          <a:noFill/>
          <a:ln w="5715">
            <a:solidFill>
              <a:srgbClr val="E2E9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2615184" y="2350008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Data cleanup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&amp; dedupe</a:t>
            </a:r>
            <a:endParaRPr lang="en-US" sz="655" dirty="0"/>
          </a:p>
        </p:txBody>
      </p:sp>
      <p:sp>
        <p:nvSpPr>
          <p:cNvPr id="69" name="Text 67"/>
          <p:cNvSpPr/>
          <p:nvPr/>
        </p:nvSpPr>
        <p:spPr>
          <a:xfrm>
            <a:off x="3895344" y="2350008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Account / location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model</a:t>
            </a:r>
            <a:endParaRPr lang="en-US" sz="655" dirty="0"/>
          </a:p>
        </p:txBody>
      </p:sp>
      <p:sp>
        <p:nvSpPr>
          <p:cNvPr id="70" name="Text 68"/>
          <p:cNvSpPr/>
          <p:nvPr/>
        </p:nvSpPr>
        <p:spPr>
          <a:xfrm>
            <a:off x="5175504" y="2350008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Order + eCom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signals</a:t>
            </a:r>
            <a:endParaRPr lang="en-US" sz="655" dirty="0"/>
          </a:p>
        </p:txBody>
      </p:sp>
      <p:sp>
        <p:nvSpPr>
          <p:cNvPr id="71" name="Text 69"/>
          <p:cNvSpPr/>
          <p:nvPr/>
        </p:nvSpPr>
        <p:spPr>
          <a:xfrm>
            <a:off x="6455664" y="2350008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Customer 360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data layer</a:t>
            </a:r>
            <a:endParaRPr lang="en-US" sz="655" dirty="0"/>
          </a:p>
        </p:txBody>
      </p:sp>
      <p:sp>
        <p:nvSpPr>
          <p:cNvPr id="72" name="Text 70"/>
          <p:cNvSpPr/>
          <p:nvPr/>
        </p:nvSpPr>
        <p:spPr>
          <a:xfrm>
            <a:off x="7735824" y="235000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3555C7"/>
          </a:solidFill>
          <a:ln w="7620">
            <a:solidFill>
              <a:srgbClr val="3555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Advanced data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products</a:t>
            </a:r>
            <a:endParaRPr lang="en-US" sz="655" dirty="0"/>
          </a:p>
        </p:txBody>
      </p:sp>
      <p:sp>
        <p:nvSpPr>
          <p:cNvPr id="73" name="Text 71"/>
          <p:cNvSpPr/>
          <p:nvPr/>
        </p:nvSpPr>
        <p:spPr>
          <a:xfrm>
            <a:off x="8814816" y="235000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Predictive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data fabric</a:t>
            </a:r>
            <a:endParaRPr lang="en-US" sz="655" dirty="0"/>
          </a:p>
        </p:txBody>
      </p:sp>
      <p:sp>
        <p:nvSpPr>
          <p:cNvPr id="74" name="Text 72"/>
          <p:cNvSpPr/>
          <p:nvPr/>
        </p:nvSpPr>
        <p:spPr>
          <a:xfrm>
            <a:off x="2615184" y="2935224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Pre-call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MVP</a:t>
            </a:r>
            <a:endParaRPr lang="en-US" sz="655" dirty="0"/>
          </a:p>
        </p:txBody>
      </p:sp>
      <p:sp>
        <p:nvSpPr>
          <p:cNvPr id="75" name="Text 73"/>
          <p:cNvSpPr/>
          <p:nvPr/>
        </p:nvSpPr>
        <p:spPr>
          <a:xfrm>
            <a:off x="3255264" y="2935224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Engagement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capture</a:t>
            </a:r>
            <a:endParaRPr lang="en-US" sz="655" dirty="0"/>
          </a:p>
        </p:txBody>
      </p:sp>
      <p:sp>
        <p:nvSpPr>
          <p:cNvPr id="76" name="Text 74"/>
          <p:cNvSpPr/>
          <p:nvPr/>
        </p:nvSpPr>
        <p:spPr>
          <a:xfrm>
            <a:off x="4535424" y="2935224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Follow-up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workspace</a:t>
            </a:r>
            <a:endParaRPr lang="en-US" sz="655" dirty="0"/>
          </a:p>
        </p:txBody>
      </p:sp>
      <p:sp>
        <p:nvSpPr>
          <p:cNvPr id="77" name="Text 75"/>
          <p:cNvSpPr/>
          <p:nvPr/>
        </p:nvSpPr>
        <p:spPr>
          <a:xfrm>
            <a:off x="5175504" y="2935224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Guided account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playbooks</a:t>
            </a:r>
            <a:endParaRPr lang="en-US" sz="655" dirty="0"/>
          </a:p>
        </p:txBody>
      </p:sp>
      <p:sp>
        <p:nvSpPr>
          <p:cNvPr id="78" name="Text 76"/>
          <p:cNvSpPr/>
          <p:nvPr/>
        </p:nvSpPr>
        <p:spPr>
          <a:xfrm>
            <a:off x="6455664" y="2935224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Sales assistant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workspace</a:t>
            </a:r>
            <a:endParaRPr lang="en-US" sz="655" dirty="0"/>
          </a:p>
        </p:txBody>
      </p:sp>
      <p:sp>
        <p:nvSpPr>
          <p:cNvPr id="79" name="Text 77"/>
          <p:cNvSpPr/>
          <p:nvPr/>
        </p:nvSpPr>
        <p:spPr>
          <a:xfrm>
            <a:off x="7735824" y="293522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3555C7"/>
          </a:solidFill>
          <a:ln w="7620">
            <a:solidFill>
              <a:srgbClr val="3555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Seller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cockpit</a:t>
            </a:r>
            <a:endParaRPr lang="en-US" sz="655" dirty="0"/>
          </a:p>
        </p:txBody>
      </p:sp>
      <p:sp>
        <p:nvSpPr>
          <p:cNvPr id="80" name="Text 78"/>
          <p:cNvSpPr/>
          <p:nvPr/>
        </p:nvSpPr>
        <p:spPr>
          <a:xfrm>
            <a:off x="8814816" y="293522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Autonomous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next action</a:t>
            </a:r>
            <a:endParaRPr lang="en-US" sz="655" dirty="0"/>
          </a:p>
        </p:txBody>
      </p:sp>
      <p:sp>
        <p:nvSpPr>
          <p:cNvPr id="81" name="Text 79"/>
          <p:cNvSpPr/>
          <p:nvPr/>
        </p:nvSpPr>
        <p:spPr>
          <a:xfrm>
            <a:off x="3255264" y="3520440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Product gap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indicators</a:t>
            </a:r>
            <a:endParaRPr lang="en-US" sz="655" dirty="0"/>
          </a:p>
        </p:txBody>
      </p:sp>
      <p:sp>
        <p:nvSpPr>
          <p:cNvPr id="82" name="Text 80"/>
          <p:cNvSpPr/>
          <p:nvPr/>
        </p:nvSpPr>
        <p:spPr>
          <a:xfrm>
            <a:off x="3895344" y="3520440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1D5959"/>
          </a:solidFill>
          <a:ln w="7620">
            <a:solidFill>
              <a:srgbClr val="1D595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Rules-based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recommendations</a:t>
            </a:r>
            <a:endParaRPr lang="en-US" sz="655" dirty="0"/>
          </a:p>
        </p:txBody>
      </p:sp>
      <p:sp>
        <p:nvSpPr>
          <p:cNvPr id="83" name="Text 81"/>
          <p:cNvSpPr/>
          <p:nvPr/>
        </p:nvSpPr>
        <p:spPr>
          <a:xfrm>
            <a:off x="5175504" y="3520440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002A54"/>
                </a:solidFill>
              </a:rPr>
              <a:t>AI-assisted</a:t>
            </a:r>
            <a:endParaRPr lang="en-US" sz="610" dirty="0"/>
          </a:p>
          <a:p>
            <a:pPr marL="0" indent="0" algn="ctr">
              <a:buNone/>
            </a:pPr>
            <a:r>
              <a:rPr lang="en-US" sz="610" b="1" dirty="0">
                <a:solidFill>
                  <a:srgbClr val="002A54"/>
                </a:solidFill>
              </a:rPr>
              <a:t>recommendations</a:t>
            </a:r>
            <a:endParaRPr lang="en-US" sz="610" dirty="0"/>
          </a:p>
        </p:txBody>
      </p:sp>
      <p:sp>
        <p:nvSpPr>
          <p:cNvPr id="84" name="Text 82"/>
          <p:cNvSpPr/>
          <p:nvPr/>
        </p:nvSpPr>
        <p:spPr>
          <a:xfrm>
            <a:off x="6455664" y="3520440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15" b="1" dirty="0">
                <a:solidFill>
                  <a:srgbClr val="002A54"/>
                </a:solidFill>
              </a:rPr>
              <a:t>Personalized</a:t>
            </a:r>
            <a:endParaRPr lang="en-US" sz="615" dirty="0"/>
          </a:p>
          <a:p>
            <a:pPr marL="0" indent="0" algn="ctr">
              <a:buNone/>
            </a:pPr>
            <a:r>
              <a:rPr lang="en-US" sz="615" b="1" dirty="0">
                <a:solidFill>
                  <a:srgbClr val="002A54"/>
                </a:solidFill>
              </a:rPr>
              <a:t>product plays</a:t>
            </a:r>
            <a:endParaRPr lang="en-US" sz="615" dirty="0"/>
          </a:p>
        </p:txBody>
      </p:sp>
      <p:sp>
        <p:nvSpPr>
          <p:cNvPr id="85" name="Text 83"/>
          <p:cNvSpPr/>
          <p:nvPr/>
        </p:nvSpPr>
        <p:spPr>
          <a:xfrm>
            <a:off x="7735824" y="352044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3555C7"/>
          </a:solidFill>
          <a:ln w="7620">
            <a:solidFill>
              <a:srgbClr val="3555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Predictive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adoption</a:t>
            </a:r>
            <a:endParaRPr lang="en-US" sz="655" dirty="0"/>
          </a:p>
        </p:txBody>
      </p:sp>
      <p:sp>
        <p:nvSpPr>
          <p:cNvPr id="86" name="Text 84"/>
          <p:cNvSpPr/>
          <p:nvPr/>
        </p:nvSpPr>
        <p:spPr>
          <a:xfrm>
            <a:off x="8814816" y="352044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AI growth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optimization</a:t>
            </a:r>
            <a:endParaRPr lang="en-US" sz="655" dirty="0"/>
          </a:p>
        </p:txBody>
      </p:sp>
      <p:sp>
        <p:nvSpPr>
          <p:cNvPr id="87" name="Text 85"/>
          <p:cNvSpPr/>
          <p:nvPr/>
        </p:nvSpPr>
        <p:spPr>
          <a:xfrm>
            <a:off x="2615184" y="4105656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Tasks + reminders</a:t>
            </a:r>
            <a:endParaRPr lang="en-US" sz="610" dirty="0"/>
          </a:p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from engagement</a:t>
            </a:r>
            <a:endParaRPr lang="en-US" sz="610" dirty="0"/>
          </a:p>
        </p:txBody>
      </p:sp>
      <p:sp>
        <p:nvSpPr>
          <p:cNvPr id="88" name="Text 86"/>
          <p:cNvSpPr/>
          <p:nvPr/>
        </p:nvSpPr>
        <p:spPr>
          <a:xfrm>
            <a:off x="3895344" y="4105656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Order / returns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support</a:t>
            </a:r>
            <a:endParaRPr lang="en-US" sz="655" dirty="0"/>
          </a:p>
        </p:txBody>
      </p:sp>
      <p:sp>
        <p:nvSpPr>
          <p:cNvPr id="89" name="Text 87"/>
          <p:cNvSpPr/>
          <p:nvPr/>
        </p:nvSpPr>
        <p:spPr>
          <a:xfrm>
            <a:off x="5175504" y="4105656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Replenishment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triggers</a:t>
            </a:r>
            <a:endParaRPr lang="en-US" sz="655" dirty="0"/>
          </a:p>
        </p:txBody>
      </p:sp>
      <p:sp>
        <p:nvSpPr>
          <p:cNvPr id="90" name="Text 88"/>
          <p:cNvSpPr/>
          <p:nvPr/>
        </p:nvSpPr>
        <p:spPr>
          <a:xfrm>
            <a:off x="6455664" y="4105656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Automated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journeys</a:t>
            </a:r>
            <a:endParaRPr lang="en-US" sz="655" dirty="0"/>
          </a:p>
        </p:txBody>
      </p:sp>
      <p:sp>
        <p:nvSpPr>
          <p:cNvPr id="91" name="Text 89"/>
          <p:cNvSpPr/>
          <p:nvPr/>
        </p:nvSpPr>
        <p:spPr>
          <a:xfrm>
            <a:off x="7735824" y="4105656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3555C7"/>
          </a:solidFill>
          <a:ln w="7620">
            <a:solidFill>
              <a:srgbClr val="3555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Proactive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alerts</a:t>
            </a:r>
            <a:endParaRPr lang="en-US" sz="655" dirty="0"/>
          </a:p>
        </p:txBody>
      </p:sp>
      <p:sp>
        <p:nvSpPr>
          <p:cNvPr id="92" name="Text 90"/>
          <p:cNvSpPr/>
          <p:nvPr/>
        </p:nvSpPr>
        <p:spPr>
          <a:xfrm>
            <a:off x="8814816" y="4105656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Closed-loop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growth</a:t>
            </a:r>
            <a:endParaRPr lang="en-US" sz="655" dirty="0"/>
          </a:p>
        </p:txBody>
      </p:sp>
      <p:sp>
        <p:nvSpPr>
          <p:cNvPr id="93" name="Text 91"/>
          <p:cNvSpPr/>
          <p:nvPr/>
        </p:nvSpPr>
        <p:spPr>
          <a:xfrm>
            <a:off x="2615184" y="4690872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002A54"/>
          </a:solidFill>
          <a:ln w="7620">
            <a:solidFill>
              <a:srgbClr val="002A5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Baseline KPIs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&amp; adoption</a:t>
            </a:r>
            <a:endParaRPr lang="en-US" sz="655" dirty="0"/>
          </a:p>
        </p:txBody>
      </p:sp>
      <p:sp>
        <p:nvSpPr>
          <p:cNvPr id="94" name="Text 92"/>
          <p:cNvSpPr/>
          <p:nvPr/>
        </p:nvSpPr>
        <p:spPr>
          <a:xfrm>
            <a:off x="3895344" y="4690872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002A54"/>
          </a:solidFill>
          <a:ln w="7620">
            <a:solidFill>
              <a:srgbClr val="002A54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Governance board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+ releases</a:t>
            </a:r>
            <a:endParaRPr lang="en-US" sz="655" dirty="0"/>
          </a:p>
        </p:txBody>
      </p:sp>
      <p:sp>
        <p:nvSpPr>
          <p:cNvPr id="95" name="Text 93"/>
          <p:cNvSpPr/>
          <p:nvPr/>
        </p:nvSpPr>
        <p:spPr>
          <a:xfrm>
            <a:off x="5175504" y="4690872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Executive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scorecards</a:t>
            </a:r>
            <a:endParaRPr lang="en-US" sz="655" dirty="0"/>
          </a:p>
        </p:txBody>
      </p:sp>
      <p:sp>
        <p:nvSpPr>
          <p:cNvPr id="96" name="Text 94"/>
          <p:cNvSpPr/>
          <p:nvPr/>
        </p:nvSpPr>
        <p:spPr>
          <a:xfrm>
            <a:off x="6455664" y="4690872"/>
            <a:ext cx="1207008" cy="274320"/>
          </a:xfrm>
          <a:prstGeom prst="roundRect">
            <a:avLst>
              <a:gd name="adj" fmla="val 13333"/>
            </a:avLst>
          </a:prstGeom>
          <a:solidFill>
            <a:srgbClr val="A64F11"/>
          </a:solidFill>
          <a:ln w="7620">
            <a:solidFill>
              <a:srgbClr val="A64F1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Outcome-based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002A54"/>
                </a:solidFill>
              </a:rPr>
              <a:t>funding</a:t>
            </a:r>
            <a:endParaRPr lang="en-US" sz="655" dirty="0"/>
          </a:p>
        </p:txBody>
      </p:sp>
      <p:sp>
        <p:nvSpPr>
          <p:cNvPr id="97" name="Text 95"/>
          <p:cNvSpPr/>
          <p:nvPr/>
        </p:nvSpPr>
        <p:spPr>
          <a:xfrm>
            <a:off x="7735824" y="469087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3555C7"/>
          </a:solidFill>
          <a:ln w="7620">
            <a:solidFill>
              <a:srgbClr val="3555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Predictive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leadership</a:t>
            </a:r>
            <a:endParaRPr lang="en-US" sz="655" dirty="0"/>
          </a:p>
        </p:txBody>
      </p:sp>
      <p:sp>
        <p:nvSpPr>
          <p:cNvPr id="98" name="Text 96"/>
          <p:cNvSpPr/>
          <p:nvPr/>
        </p:nvSpPr>
        <p:spPr>
          <a:xfrm>
            <a:off x="8814816" y="469087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77447D"/>
          </a:solidFill>
          <a:ln w="7620">
            <a:solidFill>
              <a:srgbClr val="77447D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Strategic CRM</a:t>
            </a:r>
            <a:endParaRPr lang="en-US" sz="655" dirty="0"/>
          </a:p>
          <a:p>
            <a:pPr marL="0" indent="0" algn="ctr">
              <a:buNone/>
            </a:pPr>
            <a:r>
              <a:rPr lang="en-US" sz="655" b="1" dirty="0">
                <a:solidFill>
                  <a:srgbClr val="FFFFFF"/>
                </a:solidFill>
              </a:rPr>
              <a:t>platform</a:t>
            </a:r>
            <a:endParaRPr lang="en-US" sz="655" dirty="0"/>
          </a:p>
        </p:txBody>
      </p:sp>
      <p:sp>
        <p:nvSpPr>
          <p:cNvPr id="99" name="Text 97"/>
          <p:cNvSpPr/>
          <p:nvPr/>
        </p:nvSpPr>
        <p:spPr>
          <a:xfrm>
            <a:off x="777240" y="5879592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E1EDED"/>
          </a:solidFill>
          <a:ln w="8890">
            <a:solidFill>
              <a:srgbClr val="D8E2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002A54"/>
                </a:solidFill>
              </a:rPr>
              <a:t>Year 1 outcome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002A54"/>
                </a:solidFill>
              </a:rPr>
              <a:t>Trusted CRM foundation + standardized seller habits</a:t>
            </a:r>
            <a:endParaRPr lang="en-US" sz="760" dirty="0"/>
          </a:p>
        </p:txBody>
      </p:sp>
      <p:sp>
        <p:nvSpPr>
          <p:cNvPr id="100" name="Text 98"/>
          <p:cNvSpPr/>
          <p:nvPr/>
        </p:nvSpPr>
        <p:spPr>
          <a:xfrm>
            <a:off x="4480560" y="5879592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FFF5D6"/>
          </a:solidFill>
          <a:ln w="8890">
            <a:solidFill>
              <a:srgbClr val="D8E2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6C541C"/>
                </a:solidFill>
              </a:rPr>
              <a:t>Year 2 outcome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6C541C"/>
                </a:solidFill>
              </a:rPr>
              <a:t>Guided selling + automation inside daily workflow</a:t>
            </a:r>
            <a:endParaRPr lang="en-US" sz="760" dirty="0"/>
          </a:p>
        </p:txBody>
      </p:sp>
      <p:sp>
        <p:nvSpPr>
          <p:cNvPr id="101" name="Text 99"/>
          <p:cNvSpPr/>
          <p:nvPr/>
        </p:nvSpPr>
        <p:spPr>
          <a:xfrm>
            <a:off x="8183880" y="5879592"/>
            <a:ext cx="3246120" cy="438912"/>
          </a:xfrm>
          <a:prstGeom prst="roundRect">
            <a:avLst>
              <a:gd name="adj" fmla="val 12500"/>
            </a:avLst>
          </a:prstGeom>
          <a:solidFill>
            <a:srgbClr val="E3EFF4"/>
          </a:solidFill>
          <a:ln w="8890">
            <a:solidFill>
              <a:srgbClr val="D8E2D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3555C7"/>
                </a:solidFill>
              </a:rPr>
              <a:t>Long range</a:t>
            </a:r>
            <a:endParaRPr lang="en-US" sz="760" dirty="0"/>
          </a:p>
          <a:p>
            <a:pPr marL="0" indent="0" algn="ctr">
              <a:buNone/>
            </a:pPr>
            <a:r>
              <a:rPr lang="en-US" sz="760" b="1" dirty="0">
                <a:solidFill>
                  <a:srgbClr val="3555C7"/>
                </a:solidFill>
              </a:rPr>
              <a:t>Intelligence, prediction, personalization, and growth orchestration</a:t>
            </a:r>
            <a:endParaRPr lang="en-US" sz="760" dirty="0"/>
          </a:p>
        </p:txBody>
      </p:sp>
      <p:sp>
        <p:nvSpPr>
          <p:cNvPr id="102" name="Shape 100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15</a:t>
            </a:r>
            <a:endParaRPr lang="en-US" sz="740" dirty="0"/>
          </a:p>
        </p:txBody>
      </p:sp>
      <p:sp>
        <p:nvSpPr>
          <p:cNvPr id="104" name="Rounded Rectangle 103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operating model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The platform foundation behind the sales vision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3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sales transformation will only scale if the CRM platform is clean, governed, supportable, and easy for users to work in every day.</a:t>
            </a:r>
            <a:endParaRPr lang="en-US" sz="1630" dirty="0"/>
          </a:p>
        </p:txBody>
      </p:sp>
      <p:sp>
        <p:nvSpPr>
          <p:cNvPr id="6" name="Shape 4"/>
          <p:cNvSpPr/>
          <p:nvPr/>
        </p:nvSpPr>
        <p:spPr>
          <a:xfrm>
            <a:off x="713232" y="178308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9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1975104"/>
            <a:ext cx="411480" cy="411480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2049170"/>
            <a:ext cx="411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26464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foundation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932688" y="2478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account/location model, deduplication, territory alignment, and trusted data warehouse inputs.</a:t>
            </a:r>
            <a:endParaRPr lang="en-US" sz="1090" dirty="0"/>
          </a:p>
        </p:txBody>
      </p:sp>
      <p:sp>
        <p:nvSpPr>
          <p:cNvPr id="11" name="Shape 9"/>
          <p:cNvSpPr/>
          <p:nvPr/>
        </p:nvSpPr>
        <p:spPr>
          <a:xfrm>
            <a:off x="4462272" y="178308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9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26864" y="1975104"/>
            <a:ext cx="411480" cy="411480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26864" y="2049170"/>
            <a:ext cx="411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5504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Environment discipline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4681728" y="2478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Dev / UAT / Prod path, Microsoft ALM, managed deployments, and release control.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8211312" y="178308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8DF"/>
          </a:solidFill>
          <a:ln w="11430">
            <a:solidFill>
              <a:srgbClr val="D9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75904" y="1975104"/>
            <a:ext cx="411480" cy="411480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75904" y="2049170"/>
            <a:ext cx="411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2A54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24544" y="1965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administration</a:t>
            </a:r>
            <a:endParaRPr lang="en-US" sz="1540" dirty="0"/>
          </a:p>
        </p:txBody>
      </p:sp>
      <p:sp>
        <p:nvSpPr>
          <p:cNvPr id="20" name="Text 18"/>
          <p:cNvSpPr/>
          <p:nvPr/>
        </p:nvSpPr>
        <p:spPr>
          <a:xfrm>
            <a:off x="8430768" y="2478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Role/team-based access, onboarding/offboarding, license review, and standard request intake.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713232" y="347472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9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7824" y="3666744"/>
            <a:ext cx="411480" cy="411480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77824" y="3740810"/>
            <a:ext cx="411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26464" y="36576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Supportability</a:t>
            </a:r>
            <a:endParaRPr lang="en-US" sz="1540" dirty="0"/>
          </a:p>
        </p:txBody>
      </p:sp>
      <p:sp>
        <p:nvSpPr>
          <p:cNvPr id="25" name="Text 23"/>
          <p:cNvSpPr/>
          <p:nvPr/>
        </p:nvSpPr>
        <p:spPr>
          <a:xfrm>
            <a:off x="932688" y="4169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Monitoring, issue triage, flow/plugin tracking, integration alerts, and production runbooks.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4462272" y="3474720"/>
            <a:ext cx="324612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9E4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6864" y="3666744"/>
            <a:ext cx="411480" cy="411480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3740810"/>
            <a:ext cx="41148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75504" y="36576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4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experience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4681728" y="41696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forms, fewer duplicate fields, cleaner navigation, and faster seller workflows.</a:t>
            </a:r>
            <a:endParaRPr lang="en-US" sz="1090" dirty="0"/>
          </a:p>
        </p:txBody>
      </p:sp>
      <p:sp>
        <p:nvSpPr>
          <p:cNvPr id="31" name="Text 29"/>
          <p:cNvSpPr/>
          <p:nvPr/>
        </p:nvSpPr>
        <p:spPr>
          <a:xfrm>
            <a:off x="1508760" y="5779008"/>
            <a:ext cx="9189720" cy="457200"/>
          </a:xfrm>
          <a:prstGeom prst="roundRect">
            <a:avLst>
              <a:gd name="adj" fmla="val 16000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Technical goal: make CRM reliable enough for leadership and simple enough for sales adoption.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16</a:t>
            </a:r>
            <a:endParaRPr lang="en-US" sz="740" dirty="0"/>
          </a:p>
        </p:txBody>
      </p:sp>
      <p:sp>
        <p:nvSpPr>
          <p:cNvPr id="34" name="Rounded Rectangle 33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foundation and architecture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Clean data is the first requirement for intelligent selling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100584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summaries, product recommendations, territory planning, and leadership dashboards depend on trusted CRM data and a clear account/location model.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777240" y="1737360"/>
            <a:ext cx="329184" cy="329184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96613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+ location structure</a:t>
            </a:r>
            <a:endParaRPr lang="en-US" sz="1390" dirty="0"/>
          </a:p>
        </p:txBody>
      </p:sp>
      <p:sp>
        <p:nvSpPr>
          <p:cNvPr id="9" name="Text 7"/>
          <p:cNvSpPr/>
          <p:nvPr/>
        </p:nvSpPr>
        <p:spPr>
          <a:xfrm>
            <a:off x="4069080" y="169164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parent account, store/location, practitioner, retail, contact, and territory relationships so sales activities are tracked at the right level.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77240" y="2487168"/>
            <a:ext cx="329184" cy="329184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546421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34440" y="244144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cleansing + deduplication</a:t>
            </a:r>
            <a:endParaRPr lang="en-US" sz="1390" dirty="0"/>
          </a:p>
        </p:txBody>
      </p:sp>
      <p:sp>
        <p:nvSpPr>
          <p:cNvPr id="13" name="Text 11"/>
          <p:cNvSpPr/>
          <p:nvPr/>
        </p:nvSpPr>
        <p:spPr>
          <a:xfrm>
            <a:off x="4069080" y="24414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duplicate accounts, duplicate contacts, inactive records, and duplicated fields that confuse users and reporting.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777240" y="3236976"/>
            <a:ext cx="329184" cy="329184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296229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34440" y="31912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Territory management</a:t>
            </a:r>
            <a:endParaRPr lang="en-US" sz="1390" dirty="0"/>
          </a:p>
        </p:txBody>
      </p:sp>
      <p:sp>
        <p:nvSpPr>
          <p:cNvPr id="17" name="Text 15"/>
          <p:cNvSpPr/>
          <p:nvPr/>
        </p:nvSpPr>
        <p:spPr>
          <a:xfrm>
            <a:off x="4069080" y="31912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rules for territory assignment and automate territory updates where possible, especially when locations move or reps change.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777240" y="3986784"/>
            <a:ext cx="329184" cy="329184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046037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34440" y="394106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warehouse integration</a:t>
            </a:r>
            <a:endParaRPr lang="en-US" sz="1390" dirty="0"/>
          </a:p>
        </p:txBody>
      </p:sp>
      <p:sp>
        <p:nvSpPr>
          <p:cNvPr id="21" name="Text 19"/>
          <p:cNvSpPr/>
          <p:nvPr/>
        </p:nvSpPr>
        <p:spPr>
          <a:xfrm>
            <a:off x="4069080" y="394106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from point-to-point dependency toward trusted data warehouse inputs for sales history, eCommerce, product utilization, and recommendations.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77240" y="4736592"/>
            <a:ext cx="329184" cy="329184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795845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34440" y="46908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ownership</a:t>
            </a:r>
            <a:endParaRPr lang="en-US" sz="1390" dirty="0"/>
          </a:p>
        </p:txBody>
      </p:sp>
      <p:sp>
        <p:nvSpPr>
          <p:cNvPr id="25" name="Text 23"/>
          <p:cNvSpPr/>
          <p:nvPr/>
        </p:nvSpPr>
        <p:spPr>
          <a:xfrm>
            <a:off x="4069080" y="469087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business/data stewards for account hierarchy, required fields, source of truth, and quality rules.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325880" y="5715000"/>
            <a:ext cx="9464040" cy="530352"/>
          </a:xfrm>
          <a:prstGeom prst="roundRect">
            <a:avLst>
              <a:gd name="adj" fmla="val 13793"/>
            </a:avLst>
          </a:prstGeom>
          <a:solidFill>
            <a:srgbClr val="002A54"/>
          </a:solidFill>
          <a:ln w="11430">
            <a:solidFill>
              <a:srgbClr val="002A54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Decision needed: confirm the future account/location/territory model before building AI recommendations or executive dashboards.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17</a:t>
            </a:r>
            <a:endParaRPr lang="en-US" sz="740" dirty="0"/>
          </a:p>
        </p:txBody>
      </p:sp>
      <p:sp>
        <p:nvSpPr>
          <p:cNvPr id="29" name="Rounded Rectangle 28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Environment and ALM strategy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Control change before scaling change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241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CRM roadmap requires a disciplined delivery path so enhancements are built once, tested properly, and moved to production with lower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1488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D5959"/>
          </a:solidFill>
          <a:ln w="10160">
            <a:solidFill>
              <a:srgbClr val="1D595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7706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Unmanaged build environment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1188720" y="31272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solutions, flows, plugins, web resources, custom pages, and configuration.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526280" y="187452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FFF8D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21488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A64F11"/>
          </a:solidFill>
          <a:ln w="10160">
            <a:solidFill>
              <a:srgbClr val="A64F1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54"/>
                </a:solidFill>
              </a:rPr>
              <a:t>UAT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7706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test environment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4846320" y="31272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business scenarios, roles, data rules, performance, and deployment readiness.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0" y="21488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0" y="27706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production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8503920" y="312724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approved managed solutions only, monitor adoption, and protect stability.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886200" y="2779776"/>
            <a:ext cx="594360" cy="0"/>
          </a:xfrm>
          <a:prstGeom prst="line">
            <a:avLst/>
          </a:prstGeom>
          <a:noFill/>
          <a:ln w="2921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43800" y="2779776"/>
            <a:ext cx="594360" cy="0"/>
          </a:xfrm>
          <a:prstGeom prst="line">
            <a:avLst/>
          </a:prstGeom>
          <a:noFill/>
          <a:ln w="2921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43000" y="4590288"/>
            <a:ext cx="9921240" cy="987552"/>
          </a:xfrm>
          <a:prstGeom prst="roundRect">
            <a:avLst>
              <a:gd name="adj" fmla="val 7407"/>
            </a:avLst>
          </a:prstGeom>
          <a:solidFill>
            <a:srgbClr val="F7FBF7"/>
          </a:solidFill>
          <a:ln w="11430">
            <a:solidFill>
              <a:srgbClr val="D8E3DE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</a:rPr>
              <a:t>Operating practices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</a:rPr>
              <a:t>• Follow Microsoft ALM principles with solution versioning and deployment notes.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</a:rPr>
              <a:t>• Use environment variables and connection references instead of hard-coded values.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</a:rPr>
              <a:t>• Ensure all regions/business areas follow the same Dev → UAT → Prod discipline.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</a:rPr>
              <a:t>• Recreate or bring missing production flows into Dev so the source environment is complete.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393D40"/>
                </a:solidFill>
              </a:rPr>
              <a:t>• Run solution checks, dependency reviews, and release validation before production.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18</a:t>
            </a:r>
            <a:endParaRPr lang="en-US" sz="740" dirty="0"/>
          </a:p>
        </p:txBody>
      </p:sp>
      <p:sp>
        <p:nvSpPr>
          <p:cNvPr id="23" name="Rounded Rectangle 22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administration, support, and monitoring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Make CRM easier to run after go-live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195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scalable CRM needs a defined operating model for users, access, support, and production monitoring — not just new features.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392" y="1865376"/>
            <a:ext cx="329184" cy="329184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1924629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307592" y="18013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onboarding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1307592" y="20482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request form, manager approval, role/team assignment, license validation, and new-user checklist.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28232" y="1865376"/>
            <a:ext cx="329184" cy="329184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8232" y="1924629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85432" y="18013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offboarding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6885432" y="204825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Disable access, remove team membership, reassign records, review ownership, and document completion.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85800" y="274320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50392" y="2916936"/>
            <a:ext cx="329184" cy="329184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2976189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07592" y="2852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governance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1307592" y="30998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roles and teams consistently; review security role assignments and licenses on a regular cadence.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263640" y="274320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8D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28232" y="2916936"/>
            <a:ext cx="329184" cy="329184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28232" y="2976189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85432" y="28529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process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885432" y="30998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intake channel, prioritization, response expectations, escalation path, and ownership between CRM/IT and business.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85800" y="3794760"/>
            <a:ext cx="50749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1430">
            <a:solidFill>
              <a:srgbClr val="D8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50392" y="3968496"/>
            <a:ext cx="329184" cy="329184"/>
          </a:xfrm>
          <a:prstGeom prst="ellipse">
            <a:avLst/>
          </a:prstGeom>
          <a:solidFill>
            <a:srgbClr val="002A54"/>
          </a:solidFill>
          <a:ln w="1016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0392" y="4027749"/>
            <a:ext cx="32918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07592" y="39044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1307592" y="415137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flow failures, plugin errors, integration issues, deployment history, audit needs, and recurring defects.</a:t>
            </a:r>
            <a:endParaRPr lang="en-US" sz="970" dirty="0"/>
          </a:p>
        </p:txBody>
      </p:sp>
      <p:sp>
        <p:nvSpPr>
          <p:cNvPr id="31" name="Text 29"/>
          <p:cNvSpPr/>
          <p:nvPr/>
        </p:nvSpPr>
        <p:spPr>
          <a:xfrm>
            <a:off x="1417320" y="5742432"/>
            <a:ext cx="9326880" cy="502920"/>
          </a:xfrm>
          <a:prstGeom prst="roundRect">
            <a:avLst>
              <a:gd name="adj" fmla="val 14545"/>
            </a:avLst>
          </a:prstGeom>
          <a:solidFill>
            <a:srgbClr val="002A54"/>
          </a:solidFill>
          <a:ln w="11430">
            <a:solidFill>
              <a:srgbClr val="002A54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FFFFFF"/>
                </a:solidFill>
              </a:rPr>
              <a:t>Supportability principle: every production workflow should have an owner, a monitoring method, and a recovery path.</a:t>
            </a:r>
            <a:endParaRPr lang="en-US" sz="1340" dirty="0"/>
          </a:p>
        </p:txBody>
      </p:sp>
      <p:sp>
        <p:nvSpPr>
          <p:cNvPr id="32" name="Shape 30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19</a:t>
            </a:r>
            <a:endParaRPr lang="en-US" sz="740" dirty="0"/>
          </a:p>
        </p:txBody>
      </p:sp>
      <p:sp>
        <p:nvSpPr>
          <p:cNvPr id="34" name="Rounded Rectangle 33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and user experience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Simplify CRM so sellers use it consistently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adoption, CRM must feel fast, clean, and useful. The technical work should reduce seller friction, not add another administrative burden.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9834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1430">
            <a:solidFill>
              <a:srgbClr val="E0D7C5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Current friction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Long or cluttered forms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Duplicate or confusing fields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Too many tabs and clicks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Manual follow-up tracking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Inconsistent engagement capture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4983480" cy="2743200"/>
          </a:xfrm>
          <a:prstGeom prst="roundRect">
            <a:avLst>
              <a:gd name="adj" fmla="val 2667"/>
            </a:avLst>
          </a:prstGeom>
          <a:solidFill>
            <a:srgbClr val="FFF8DF"/>
          </a:solidFill>
          <a:ln w="11430">
            <a:solidFill>
              <a:srgbClr val="DFC86D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Target experience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Clean role-based forms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Remove duplicated fields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Relevant views and commands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Automated tasks and prompts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393D40"/>
                </a:solidFill>
              </a:rPr>
              <a:t>• Standardized engagement experience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3154680"/>
            <a:ext cx="502920" cy="0"/>
          </a:xfrm>
          <a:prstGeom prst="line">
            <a:avLst/>
          </a:prstGeom>
          <a:noFill/>
          <a:ln w="38100">
            <a:solidFill>
              <a:srgbClr val="A64F1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5074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1D59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cleanup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868680" y="5358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unused fields, duplicate fields, and low-value sections.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3657600" y="5074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cleanup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3657600" y="5358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focused views by role, team, account type, territory, and engagement need.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446520" y="5074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7744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Load-time review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6446520" y="5358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heavy subgrids, unnecessary scripts, and expensive synchronous logic.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9235440" y="5074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355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Seller workspace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9235440" y="53583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guided page for pre-call planning, engagement capture, recommendations, and follow-up.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20</a:t>
            </a:r>
            <a:endParaRPr lang="en-US" sz="740" dirty="0"/>
          </a:p>
        </p:txBody>
      </p:sp>
      <p:sp>
        <p:nvSpPr>
          <p:cNvPr id="19" name="Rounded Rectangle 18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roadmap alignment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Build the platform foundation in parallel with sales capabilities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recommended approach is to align technical cleanup with the sales roadmap so the foundation improves while sellers see visible business value.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1D595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192938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3246120" y="18928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model, deduplication, account/location hierarchy, environment discipline, Dev source of truth.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822960" y="2633472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002A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277977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Visibility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3246120" y="27432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views, Power BI alignment, account health data, product utilization, territory dashboards.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822960" y="3483864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77447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36301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246120" y="35935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Follow-ups, onboarding/offboarding, territory assignment rules, integration alerts, support intake.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822960" y="4334256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A64F1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7552" y="44805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selling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246120" y="44439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summaries, product recommendations, call prep, next best action, risk alerts.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234440" y="5577840"/>
            <a:ext cx="9738360" cy="658368"/>
          </a:xfrm>
          <a:prstGeom prst="roundRect">
            <a:avLst>
              <a:gd name="adj" fmla="val 11111"/>
            </a:avLst>
          </a:prstGeom>
          <a:solidFill>
            <a:srgbClr val="002A54"/>
          </a:solidFill>
          <a:ln w="11430">
            <a:solidFill>
              <a:srgbClr val="002A54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Technical message for leadership: the 5–10 year CRM vision depends on doing the basics well now — clean data, controlled environments, standard support, and a usable seller experience.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21</a:t>
            </a:r>
            <a:endParaRPr lang="en-US" sz="740" dirty="0"/>
          </a:p>
        </p:txBody>
      </p:sp>
      <p:sp>
        <p:nvSpPr>
          <p:cNvPr id="21" name="Rounded Rectangle 20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Governance and success measures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How to sustain the transformation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987552"/>
            <a:ext cx="10287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20" dirty="0">
                <a:solidFill>
                  <a:srgbClr val="393D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transformation requires both platform delivery and business ownership. The governance model should connect roadmap decisions to adoption, data quality, and measurable outcomes.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D8E3DE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Operating governance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CRM Governance Board to prioritize roadmap and approve major changes.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Sales process owners to define engagement standards and adoption expectations.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Data stewards to own account hierarchy, product adoption definitions, and reporting trust.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CRM/IT team to own ALM, security, integrations, releases, and supportability.</a:t>
            </a:r>
            <a:endParaRPr lang="en-US" sz="1280" dirty="0"/>
          </a:p>
        </p:txBody>
      </p:sp>
      <p:sp>
        <p:nvSpPr>
          <p:cNvPr id="7" name="Text 5"/>
          <p:cNvSpPr/>
          <p:nvPr/>
        </p:nvSpPr>
        <p:spPr>
          <a:xfrm>
            <a:off x="6309360" y="187452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9E6"/>
          </a:solidFill>
          <a:ln w="11430">
            <a:solidFill>
              <a:srgbClr val="E5D28C"/>
            </a:solidFill>
          </a:ln>
        </p:spPr>
        <p:txBody>
          <a:bodyPr wrap="square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Business KPIs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Seller adoption and active usage.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Pre-call planning completion.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Follow-up completion rate.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Product adoption / cross-sell movement.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Average order value and repeat order trends.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393D40"/>
                </a:solidFill>
              </a:rPr>
              <a:t>• Account health and at-risk account visibility.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2011680" y="563270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002A54"/>
          </a:solidFill>
          <a:ln w="10160">
            <a:solidFill>
              <a:srgbClr val="002A5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Governance turns CRM from a project into a durable business capability.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D6E0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6E7775"/>
                </a:solidFill>
              </a:rPr>
              <a:t>Metagenics CRM Transformation Strategy  |  22</a:t>
            </a:r>
            <a:endParaRPr lang="en-US" sz="740" dirty="0"/>
          </a:p>
        </p:txBody>
      </p:sp>
      <p:sp>
        <p:nvSpPr>
          <p:cNvPr id="11" name="Rounded Rectangle 10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tmp_replac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11480"/>
            <a:ext cx="10012680" cy="5806440"/>
          </a:xfrm>
          <a:prstGeom prst="roundRect">
            <a:avLst>
              <a:gd name="adj" fmla="val 1260"/>
            </a:avLst>
          </a:prstGeom>
          <a:solidFill>
            <a:srgbClr val="002A54">
              <a:alpha val="9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94944" y="758952"/>
            <a:ext cx="384048" cy="0"/>
          </a:xfrm>
          <a:prstGeom prst="line">
            <a:avLst/>
          </a:prstGeom>
          <a:noFill/>
          <a:ln w="34290">
            <a:solidFill>
              <a:srgbClr val="FCE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170432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LEADERSHIP DECISIONS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94944" y="1060704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Decide the first proof point, then build toward the 5–10 year vision.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786384" y="2423160"/>
            <a:ext cx="347472" cy="347472"/>
          </a:xfrm>
          <a:prstGeom prst="ellipse">
            <a:avLst/>
          </a:prstGeom>
          <a:solidFill>
            <a:srgbClr val="1D5959"/>
          </a:solidFill>
          <a:ln w="1016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6384" y="2485705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25296" y="24048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vision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364992" y="2404872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as a daily sales assistant and customer growth platform.</a:t>
            </a:r>
            <a:endParaRPr lang="en-US" sz="1230" dirty="0"/>
          </a:p>
        </p:txBody>
      </p:sp>
      <p:sp>
        <p:nvSpPr>
          <p:cNvPr id="11" name="Shape 8"/>
          <p:cNvSpPr/>
          <p:nvPr/>
        </p:nvSpPr>
        <p:spPr>
          <a:xfrm>
            <a:off x="786384" y="3136392"/>
            <a:ext cx="347472" cy="347472"/>
          </a:xfrm>
          <a:prstGeom prst="ellipse">
            <a:avLst/>
          </a:prstGeom>
          <a:solidFill>
            <a:srgbClr val="A64F11"/>
          </a:solidFill>
          <a:ln w="1016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6384" y="3198937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A54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25296" y="3118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model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364992" y="3118104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Account/location structure, engagement types, product adoption data, and source systems.</a:t>
            </a:r>
            <a:endParaRPr lang="en-US" sz="1230" dirty="0"/>
          </a:p>
        </p:txBody>
      </p:sp>
      <p:sp>
        <p:nvSpPr>
          <p:cNvPr id="15" name="Shape 12"/>
          <p:cNvSpPr/>
          <p:nvPr/>
        </p:nvSpPr>
        <p:spPr>
          <a:xfrm>
            <a:off x="786384" y="3849624"/>
            <a:ext cx="347472" cy="347472"/>
          </a:xfrm>
          <a:prstGeom prst="ellipse">
            <a:avLst/>
          </a:prstGeom>
          <a:solidFill>
            <a:srgbClr val="77447D"/>
          </a:solidFill>
          <a:ln w="1016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86384" y="3912169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225296" y="38313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pilot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364992" y="3831336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Pre-call planning workspace, guided engagement capture, or follow-up automation.</a:t>
            </a:r>
            <a:endParaRPr lang="en-US" sz="1230" dirty="0"/>
          </a:p>
        </p:txBody>
      </p:sp>
      <p:sp>
        <p:nvSpPr>
          <p:cNvPr id="19" name="Shape 16"/>
          <p:cNvSpPr/>
          <p:nvPr/>
        </p:nvSpPr>
        <p:spPr>
          <a:xfrm>
            <a:off x="786384" y="4562856"/>
            <a:ext cx="347472" cy="347472"/>
          </a:xfrm>
          <a:prstGeom prst="ellipse">
            <a:avLst/>
          </a:prstGeom>
          <a:solidFill>
            <a:srgbClr val="3555C7"/>
          </a:solidFill>
          <a:ln w="1016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86384" y="4625401"/>
            <a:ext cx="34747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25296" y="4544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CE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 up cadence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3364992" y="4544568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EAF5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board, roadmap review, data quality review, and adoption measurement.</a:t>
            </a:r>
            <a:endParaRPr lang="en-US" sz="1230" dirty="0"/>
          </a:p>
        </p:txBody>
      </p:sp>
      <p:sp>
        <p:nvSpPr>
          <p:cNvPr id="23" name="Text 20"/>
          <p:cNvSpPr/>
          <p:nvPr/>
        </p:nvSpPr>
        <p:spPr>
          <a:xfrm>
            <a:off x="2057400" y="5559552"/>
            <a:ext cx="8046720" cy="493776"/>
          </a:xfrm>
          <a:prstGeom prst="roundRect">
            <a:avLst>
              <a:gd name="adj" fmla="val 14815"/>
            </a:avLst>
          </a:prstGeom>
          <a:solidFill>
            <a:srgbClr val="FCE7DA"/>
          </a:solidFill>
          <a:ln w="10160">
            <a:solidFill>
              <a:srgbClr val="FCE7D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A54"/>
                </a:solidFill>
              </a:rPr>
              <a:t>Discussion: Which seller workflow should become the first CRM transformation pilot?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30352" y="6473952"/>
            <a:ext cx="11137392" cy="0"/>
          </a:xfrm>
          <a:prstGeom prst="line">
            <a:avLst/>
          </a:prstGeom>
          <a:noFill/>
          <a:ln w="8890">
            <a:solidFill>
              <a:srgbClr val="4073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909560" y="6565392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DCEEEA"/>
                </a:solidFill>
              </a:rPr>
              <a:t>Metagenics CRM Transformation Strategy  |  23</a:t>
            </a:r>
            <a:endParaRPr lang="en-US" sz="740" dirty="0"/>
          </a:p>
        </p:txBody>
      </p:sp>
      <p:sp>
        <p:nvSpPr>
          <p:cNvPr id="27" name="Rounded Rectangle 26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6f24aa7-d47a-4533-ab7b-8bce50e89e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2004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02A5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Metagenics Web Color Palette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94360" y="877824"/>
            <a:ext cx="987552" cy="0"/>
          </a:xfrm>
          <a:prstGeom prst="line">
            <a:avLst/>
          </a:prstGeom>
          <a:noFill/>
          <a:ln w="406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75320" y="429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93D40"/>
                </a:solidFill>
              </a:rPr>
              <a:t>Branding reference for CRM transformation slides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298448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371600"/>
            <a:ext cx="1883664" cy="658368"/>
          </a:xfrm>
          <a:prstGeom prst="rect">
            <a:avLst/>
          </a:prstGeom>
          <a:solidFill>
            <a:srgbClr val="002A54"/>
          </a:solidFill>
          <a:ln w="254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214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Primary Navy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8096" y="23591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#002A54</a:t>
            </a:r>
            <a:endParaRPr lang="en-US" sz="1010" dirty="0"/>
          </a:p>
        </p:txBody>
      </p:sp>
      <p:sp>
        <p:nvSpPr>
          <p:cNvPr id="9" name="Shape 7"/>
          <p:cNvSpPr/>
          <p:nvPr/>
        </p:nvSpPr>
        <p:spPr>
          <a:xfrm>
            <a:off x="2907792" y="1298448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80944" y="1371600"/>
            <a:ext cx="1883664" cy="658368"/>
          </a:xfrm>
          <a:prstGeom prst="rect">
            <a:avLst/>
          </a:prstGeom>
          <a:solidFill>
            <a:srgbClr val="FFFFFF"/>
          </a:solidFill>
          <a:ln w="25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35808" y="21214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35808" y="23591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#FFFFFF</a:t>
            </a:r>
            <a:endParaRPr lang="en-US" sz="1010" dirty="0"/>
          </a:p>
        </p:txBody>
      </p:sp>
      <p:sp>
        <p:nvSpPr>
          <p:cNvPr id="13" name="Shape 11"/>
          <p:cNvSpPr/>
          <p:nvPr/>
        </p:nvSpPr>
        <p:spPr>
          <a:xfrm>
            <a:off x="5175504" y="1298448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48656" y="1371600"/>
            <a:ext cx="1883664" cy="658368"/>
          </a:xfrm>
          <a:prstGeom prst="rect">
            <a:avLst/>
          </a:prstGeom>
          <a:solidFill>
            <a:srgbClr val="393D40"/>
          </a:solidFill>
          <a:ln w="2540">
            <a:solidFill>
              <a:srgbClr val="393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0" y="21214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Charcoal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23591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#393D40</a:t>
            </a:r>
            <a:endParaRPr lang="en-US" sz="1010" dirty="0"/>
          </a:p>
        </p:txBody>
      </p:sp>
      <p:sp>
        <p:nvSpPr>
          <p:cNvPr id="17" name="Shape 15"/>
          <p:cNvSpPr/>
          <p:nvPr/>
        </p:nvSpPr>
        <p:spPr>
          <a:xfrm>
            <a:off x="7443216" y="1298448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16368" y="1371600"/>
            <a:ext cx="1883664" cy="658368"/>
          </a:xfrm>
          <a:prstGeom prst="rect">
            <a:avLst/>
          </a:prstGeom>
          <a:solidFill>
            <a:srgbClr val="4D6A87"/>
          </a:solidFill>
          <a:ln w="2540">
            <a:solidFill>
              <a:srgbClr val="4D6A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71232" y="21214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Slate Blue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71232" y="23591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#4D6A87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9710928" y="1298448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784080" y="1371600"/>
            <a:ext cx="1883664" cy="658368"/>
          </a:xfrm>
          <a:prstGeom prst="rect">
            <a:avLst/>
          </a:prstGeom>
          <a:solidFill>
            <a:srgbClr val="77447D"/>
          </a:solidFill>
          <a:ln w="2540">
            <a:solidFill>
              <a:srgbClr val="77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38944" y="21214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Purple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38944" y="235915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#77447D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640080" y="2871216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" y="2944368"/>
            <a:ext cx="1883664" cy="658368"/>
          </a:xfrm>
          <a:prstGeom prst="rect">
            <a:avLst/>
          </a:prstGeom>
          <a:solidFill>
            <a:srgbClr val="D0D3D6"/>
          </a:solidFill>
          <a:ln w="254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8096" y="3694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Light Gray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8096" y="393192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#D0D3D6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2907792" y="2871216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980944" y="2944368"/>
            <a:ext cx="1883664" cy="658368"/>
          </a:xfrm>
          <a:prstGeom prst="rect">
            <a:avLst/>
          </a:prstGeom>
          <a:solidFill>
            <a:srgbClr val="FAFBFC"/>
          </a:solidFill>
          <a:ln w="254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35808" y="3694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Off White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35808" y="393192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#FAFBFC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5175504" y="2871216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48656" y="2944368"/>
            <a:ext cx="1883664" cy="658368"/>
          </a:xfrm>
          <a:prstGeom prst="rect">
            <a:avLst/>
          </a:prstGeom>
          <a:solidFill>
            <a:srgbClr val="DAE6F2"/>
          </a:solidFill>
          <a:ln w="2540">
            <a:solidFill>
              <a:srgbClr val="DA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0" y="3694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Pale Blue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93192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#DAE6F2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7443216" y="2871216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16368" y="2944368"/>
            <a:ext cx="1883664" cy="658368"/>
          </a:xfrm>
          <a:prstGeom prst="rect">
            <a:avLst/>
          </a:prstGeom>
          <a:solidFill>
            <a:srgbClr val="3555C7"/>
          </a:solidFill>
          <a:ln w="2540">
            <a:solidFill>
              <a:srgbClr val="355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71232" y="3694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Royal Blue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571232" y="393192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#3555C7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9710928" y="2871216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784080" y="2944368"/>
            <a:ext cx="1883664" cy="658368"/>
          </a:xfrm>
          <a:prstGeom prst="rect">
            <a:avLst/>
          </a:prstGeom>
          <a:solidFill>
            <a:srgbClr val="F0F6FC"/>
          </a:solidFill>
          <a:ln w="2540">
            <a:solidFill>
              <a:srgbClr val="F0F6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838944" y="3694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Very Light Blue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838944" y="3931920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#F0F6FC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640080" y="4443984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13232" y="4517136"/>
            <a:ext cx="1883664" cy="658368"/>
          </a:xfrm>
          <a:prstGeom prst="rect">
            <a:avLst/>
          </a:prstGeom>
          <a:solidFill>
            <a:srgbClr val="B8CFE5"/>
          </a:solidFill>
          <a:ln w="2540">
            <a:solidFill>
              <a:srgbClr val="B8CF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68096" y="52669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Focus Blue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8096" y="55046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#B8CFE5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2907792" y="4443984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980944" y="4517136"/>
            <a:ext cx="1883664" cy="658368"/>
          </a:xfrm>
          <a:prstGeom prst="rect">
            <a:avLst/>
          </a:prstGeom>
          <a:solidFill>
            <a:srgbClr val="FCE7DA"/>
          </a:solidFill>
          <a:ln w="2540">
            <a:solidFill>
              <a:srgbClr val="FCE7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35808" y="52669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Soft Orange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035808" y="55046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#FCE7DA</a:t>
            </a:r>
            <a:endParaRPr lang="en-US" sz="1010" dirty="0"/>
          </a:p>
        </p:txBody>
      </p:sp>
      <p:sp>
        <p:nvSpPr>
          <p:cNvPr id="53" name="Shape 51"/>
          <p:cNvSpPr/>
          <p:nvPr/>
        </p:nvSpPr>
        <p:spPr>
          <a:xfrm>
            <a:off x="5175504" y="4443984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248656" y="4517136"/>
            <a:ext cx="1883664" cy="658368"/>
          </a:xfrm>
          <a:prstGeom prst="rect">
            <a:avLst/>
          </a:prstGeom>
          <a:solidFill>
            <a:srgbClr val="A64F11"/>
          </a:solidFill>
          <a:ln w="2540">
            <a:solidFill>
              <a:srgbClr val="A64F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303520" y="52669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Burnt Orange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303520" y="55046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#A64F11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7443216" y="4443984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16368" y="4517136"/>
            <a:ext cx="1883664" cy="658368"/>
          </a:xfrm>
          <a:prstGeom prst="rect">
            <a:avLst/>
          </a:prstGeom>
          <a:solidFill>
            <a:srgbClr val="E1EDED"/>
          </a:solidFill>
          <a:ln w="2540">
            <a:solidFill>
              <a:srgbClr val="E1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571232" y="52669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 Pale Teal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571232" y="55046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#E1EDED</a:t>
            </a:r>
            <a:endParaRPr lang="en-US" sz="1010" dirty="0"/>
          </a:p>
        </p:txBody>
      </p:sp>
      <p:sp>
        <p:nvSpPr>
          <p:cNvPr id="61" name="Shape 59"/>
          <p:cNvSpPr/>
          <p:nvPr/>
        </p:nvSpPr>
        <p:spPr>
          <a:xfrm>
            <a:off x="9710928" y="4443984"/>
            <a:ext cx="202996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0160">
            <a:solidFill>
              <a:srgbClr val="D0D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9784080" y="4517136"/>
            <a:ext cx="1883664" cy="658368"/>
          </a:xfrm>
          <a:prstGeom prst="rect">
            <a:avLst/>
          </a:prstGeom>
          <a:solidFill>
            <a:srgbClr val="1D5959"/>
          </a:solidFill>
          <a:ln w="2540">
            <a:solidFill>
              <a:srgbClr val="1D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9838944" y="526694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 Deep Teal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838944" y="5504688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#1D5959</a:t>
            </a:r>
            <a:endParaRPr lang="en-US" sz="1010" dirty="0"/>
          </a:p>
        </p:txBody>
      </p:sp>
      <p:sp>
        <p:nvSpPr>
          <p:cNvPr id="65" name="Shape 63"/>
          <p:cNvSpPr/>
          <p:nvPr/>
        </p:nvSpPr>
        <p:spPr>
          <a:xfrm>
            <a:off x="658368" y="6291072"/>
            <a:ext cx="10881360" cy="0"/>
          </a:xfrm>
          <a:prstGeom prst="line">
            <a:avLst/>
          </a:prstGeom>
          <a:noFill/>
          <a:ln w="12700">
            <a:solidFill>
              <a:srgbClr val="002A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22960" y="642823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40" i="1" dirty="0">
                <a:solidFill>
                  <a:srgbClr val="002A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rule: use Primary Navy, White, Charcoal, Pale Blue, Very Light Blue, Deep Teal, and Burnt Orange as the main presentation system; reserve Purple/Royal Blue for emphasis only.</a:t>
            </a:r>
            <a:endParaRPr lang="en-US" sz="1040" dirty="0"/>
          </a:p>
        </p:txBody>
      </p:sp>
      <p:sp>
        <p:nvSpPr>
          <p:cNvPr id="67" name="Rounded Rectangle 66"/>
          <p:cNvSpPr/>
          <p:nvPr/>
        </p:nvSpPr>
        <p:spPr>
          <a:xfrm>
            <a:off x="9811512" y="128016"/>
            <a:ext cx="1911096" cy="396849"/>
          </a:xfrm>
          <a:prstGeom prst="roundRect">
            <a:avLst/>
          </a:prstGeom>
          <a:solidFill>
            <a:srgbClr val="FFFFFF"/>
          </a:solidFill>
          <a:ln w="4572">
            <a:solidFill>
              <a:srgbClr val="DA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8" name="Picture 67" descr="d6f24aa7-d47a-4533-ab7b-8bce50e89e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01168"/>
            <a:ext cx="1691640" cy="2505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3911</Words>
  <Application>Microsoft Office PowerPoint</Application>
  <PresentationFormat>Widescreen</PresentationFormat>
  <Paragraphs>567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Metagenics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Metagenics CRM Transformation Strategy</dc:title>
  <dc:subject>Metagenics CRM Transformation Strategy - Leadership Presentation</dc:subject>
  <dc:creator>Paul</dc:creator>
  <cp:lastModifiedBy>Paul Aneng</cp:lastModifiedBy>
  <cp:revision>2</cp:revision>
  <dcterms:created xsi:type="dcterms:W3CDTF">2026-05-10T19:07:44Z</dcterms:created>
  <dcterms:modified xsi:type="dcterms:W3CDTF">2026-05-10T20:10:03Z</dcterms:modified>
</cp:coreProperties>
</file>